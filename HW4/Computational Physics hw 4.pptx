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7" r:id="rId13"/>
    <p:sldId id="266" r:id="rId14"/>
    <p:sldId id="269" r:id="rId15"/>
    <p:sldId id="270" r:id="rId16"/>
    <p:sldId id="271" r:id="rId17"/>
    <p:sldId id="272" r:id="rId18"/>
    <p:sldId id="274" r:id="rId19"/>
    <p:sldId id="273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A8D873-A67C-BEA9-5BE7-AE5B6A65EDF1}" v="1167" dt="2024-03-08T05:12:15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C6D936-951C-4C23-996D-D39E3AF9486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575B02-FFFE-4144-8901-426E8A4949FC}">
      <dgm:prSet/>
      <dgm:spPr/>
      <dgm:t>
        <a:bodyPr/>
        <a:lstStyle/>
        <a:p>
          <a:r>
            <a:rPr lang="en-US" dirty="0">
              <a:latin typeface="Consolas"/>
            </a:rPr>
            <a:t>If the damping constant is greater than twice the natural frequency, the pendulum is over damped</a:t>
          </a:r>
        </a:p>
      </dgm:t>
    </dgm:pt>
    <dgm:pt modelId="{71D9EE34-E5D3-4FD9-9A99-918B3F933AEC}" type="parTrans" cxnId="{F6BBD979-F548-4705-9C7E-2CFD09CC1229}">
      <dgm:prSet/>
      <dgm:spPr/>
      <dgm:t>
        <a:bodyPr/>
        <a:lstStyle/>
        <a:p>
          <a:endParaRPr lang="en-US"/>
        </a:p>
      </dgm:t>
    </dgm:pt>
    <dgm:pt modelId="{736C8136-9D03-4857-A7EB-24EE45C6E258}" type="sibTrans" cxnId="{F6BBD979-F548-4705-9C7E-2CFD09CC122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166AE52-ED31-4A68-BEA4-8ED9AE6178A2}">
      <dgm:prSet/>
      <dgm:spPr/>
      <dgm:t>
        <a:bodyPr/>
        <a:lstStyle/>
        <a:p>
          <a:r>
            <a:rPr lang="en-US" dirty="0">
              <a:latin typeface="Consolas"/>
            </a:rPr>
            <a:t>If the damping constant is less than twice the natural frequency, the pendulum is under damped</a:t>
          </a:r>
        </a:p>
      </dgm:t>
    </dgm:pt>
    <dgm:pt modelId="{B2C946F1-EC10-4C9C-9879-4287176EF590}" type="parTrans" cxnId="{748C3E0B-7F46-4B78-93C4-ADFB8976E498}">
      <dgm:prSet/>
      <dgm:spPr/>
      <dgm:t>
        <a:bodyPr/>
        <a:lstStyle/>
        <a:p>
          <a:endParaRPr lang="en-US"/>
        </a:p>
      </dgm:t>
    </dgm:pt>
    <dgm:pt modelId="{E8CC2026-9E50-411B-812E-17CA11265F22}" type="sibTrans" cxnId="{748C3E0B-7F46-4B78-93C4-ADFB8976E49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848C5F2-778F-4BF5-B8BE-B950F677AD9D}">
      <dgm:prSet/>
      <dgm:spPr/>
      <dgm:t>
        <a:bodyPr/>
        <a:lstStyle/>
        <a:p>
          <a:r>
            <a:rPr lang="en-US" dirty="0">
              <a:latin typeface="Consolas"/>
            </a:rPr>
            <a:t>If the damping constant is about the same as twice the natural frequency, the pendulum is critically damped</a:t>
          </a:r>
        </a:p>
      </dgm:t>
    </dgm:pt>
    <dgm:pt modelId="{B72BCAC6-F171-48A9-AB2F-53DC02BB43B8}" type="parTrans" cxnId="{F8D021AC-FC4B-4A0E-9EEB-A6F45D46794E}">
      <dgm:prSet/>
      <dgm:spPr/>
      <dgm:t>
        <a:bodyPr/>
        <a:lstStyle/>
        <a:p>
          <a:endParaRPr lang="en-US"/>
        </a:p>
      </dgm:t>
    </dgm:pt>
    <dgm:pt modelId="{587D409E-F3EC-4EAE-B2AC-ABA961D28AD4}" type="sibTrans" cxnId="{F8D021AC-FC4B-4A0E-9EEB-A6F45D46794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42381AC-224C-4AA3-800B-43DC0DF736B8}" type="pres">
      <dgm:prSet presAssocID="{42C6D936-951C-4C23-996D-D39E3AF9486B}" presName="Name0" presStyleCnt="0">
        <dgm:presLayoutVars>
          <dgm:animLvl val="lvl"/>
          <dgm:resizeHandles val="exact"/>
        </dgm:presLayoutVars>
      </dgm:prSet>
      <dgm:spPr/>
    </dgm:pt>
    <dgm:pt modelId="{629FAB88-FA7D-4FD6-96B7-A671EE39EF4A}" type="pres">
      <dgm:prSet presAssocID="{83575B02-FFFE-4144-8901-426E8A4949FC}" presName="compositeNode" presStyleCnt="0">
        <dgm:presLayoutVars>
          <dgm:bulletEnabled val="1"/>
        </dgm:presLayoutVars>
      </dgm:prSet>
      <dgm:spPr/>
    </dgm:pt>
    <dgm:pt modelId="{C0D976E8-A20B-44C1-954C-1B7F44FC970E}" type="pres">
      <dgm:prSet presAssocID="{83575B02-FFFE-4144-8901-426E8A4949FC}" presName="bgRect" presStyleLbl="bgAccFollowNode1" presStyleIdx="0" presStyleCnt="3"/>
      <dgm:spPr/>
    </dgm:pt>
    <dgm:pt modelId="{ADD12493-5057-4C04-8D11-F338AA3925B5}" type="pres">
      <dgm:prSet presAssocID="{736C8136-9D03-4857-A7EB-24EE45C6E25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D731279-359A-4BD9-9685-508E78538879}" type="pres">
      <dgm:prSet presAssocID="{83575B02-FFFE-4144-8901-426E8A4949FC}" presName="bottomLine" presStyleLbl="alignNode1" presStyleIdx="1" presStyleCnt="6">
        <dgm:presLayoutVars/>
      </dgm:prSet>
      <dgm:spPr/>
    </dgm:pt>
    <dgm:pt modelId="{6C9FF4F9-7AB2-4A11-8076-C152BA0E0E7F}" type="pres">
      <dgm:prSet presAssocID="{83575B02-FFFE-4144-8901-426E8A4949FC}" presName="nodeText" presStyleLbl="bgAccFollowNode1" presStyleIdx="0" presStyleCnt="3">
        <dgm:presLayoutVars>
          <dgm:bulletEnabled val="1"/>
        </dgm:presLayoutVars>
      </dgm:prSet>
      <dgm:spPr/>
    </dgm:pt>
    <dgm:pt modelId="{9F5E5F39-2848-49A7-811E-85D4FEB6C59A}" type="pres">
      <dgm:prSet presAssocID="{736C8136-9D03-4857-A7EB-24EE45C6E258}" presName="sibTrans" presStyleCnt="0"/>
      <dgm:spPr/>
    </dgm:pt>
    <dgm:pt modelId="{8864EB74-71C1-4AD8-B67C-631BB9733354}" type="pres">
      <dgm:prSet presAssocID="{2166AE52-ED31-4A68-BEA4-8ED9AE6178A2}" presName="compositeNode" presStyleCnt="0">
        <dgm:presLayoutVars>
          <dgm:bulletEnabled val="1"/>
        </dgm:presLayoutVars>
      </dgm:prSet>
      <dgm:spPr/>
    </dgm:pt>
    <dgm:pt modelId="{A10DB67D-D9E5-4932-BB39-FAD3F6AB57A8}" type="pres">
      <dgm:prSet presAssocID="{2166AE52-ED31-4A68-BEA4-8ED9AE6178A2}" presName="bgRect" presStyleLbl="bgAccFollowNode1" presStyleIdx="1" presStyleCnt="3"/>
      <dgm:spPr/>
    </dgm:pt>
    <dgm:pt modelId="{AC307E38-50D3-451A-8248-2C7E112DAD50}" type="pres">
      <dgm:prSet presAssocID="{E8CC2026-9E50-411B-812E-17CA11265F22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2151E2CB-CEC3-4075-A45F-EE616E18B163}" type="pres">
      <dgm:prSet presAssocID="{2166AE52-ED31-4A68-BEA4-8ED9AE6178A2}" presName="bottomLine" presStyleLbl="alignNode1" presStyleIdx="3" presStyleCnt="6">
        <dgm:presLayoutVars/>
      </dgm:prSet>
      <dgm:spPr/>
    </dgm:pt>
    <dgm:pt modelId="{7862BEEB-95B6-4707-B3EF-7359A2C21EC7}" type="pres">
      <dgm:prSet presAssocID="{2166AE52-ED31-4A68-BEA4-8ED9AE6178A2}" presName="nodeText" presStyleLbl="bgAccFollowNode1" presStyleIdx="1" presStyleCnt="3">
        <dgm:presLayoutVars>
          <dgm:bulletEnabled val="1"/>
        </dgm:presLayoutVars>
      </dgm:prSet>
      <dgm:spPr/>
    </dgm:pt>
    <dgm:pt modelId="{80B26A53-60AA-4891-B685-1A337B2E42E4}" type="pres">
      <dgm:prSet presAssocID="{E8CC2026-9E50-411B-812E-17CA11265F22}" presName="sibTrans" presStyleCnt="0"/>
      <dgm:spPr/>
    </dgm:pt>
    <dgm:pt modelId="{2EE09F0A-3B83-4BEC-BABD-C7B2DDE4B7CC}" type="pres">
      <dgm:prSet presAssocID="{C848C5F2-778F-4BF5-B8BE-B950F677AD9D}" presName="compositeNode" presStyleCnt="0">
        <dgm:presLayoutVars>
          <dgm:bulletEnabled val="1"/>
        </dgm:presLayoutVars>
      </dgm:prSet>
      <dgm:spPr/>
    </dgm:pt>
    <dgm:pt modelId="{76BFB74F-B9EC-424B-B42B-752338E0B0B3}" type="pres">
      <dgm:prSet presAssocID="{C848C5F2-778F-4BF5-B8BE-B950F677AD9D}" presName="bgRect" presStyleLbl="bgAccFollowNode1" presStyleIdx="2" presStyleCnt="3"/>
      <dgm:spPr/>
    </dgm:pt>
    <dgm:pt modelId="{BF101CCA-E91E-44F2-AC23-4375B5E27963}" type="pres">
      <dgm:prSet presAssocID="{587D409E-F3EC-4EAE-B2AC-ABA961D28AD4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5BAC84B-D935-435A-A1BA-1A66CC8F6BFA}" type="pres">
      <dgm:prSet presAssocID="{C848C5F2-778F-4BF5-B8BE-B950F677AD9D}" presName="bottomLine" presStyleLbl="alignNode1" presStyleIdx="5" presStyleCnt="6">
        <dgm:presLayoutVars/>
      </dgm:prSet>
      <dgm:spPr/>
    </dgm:pt>
    <dgm:pt modelId="{CAC495C8-FA16-4C7A-B901-928383CB526A}" type="pres">
      <dgm:prSet presAssocID="{C848C5F2-778F-4BF5-B8BE-B950F677AD9D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E8D1B802-4786-4834-97AC-1B0DDF5F26C4}" type="presOf" srcId="{C848C5F2-778F-4BF5-B8BE-B950F677AD9D}" destId="{CAC495C8-FA16-4C7A-B901-928383CB526A}" srcOrd="1" destOrd="0" presId="urn:microsoft.com/office/officeart/2016/7/layout/BasicLinearProcessNumbered"/>
    <dgm:cxn modelId="{748C3E0B-7F46-4B78-93C4-ADFB8976E498}" srcId="{42C6D936-951C-4C23-996D-D39E3AF9486B}" destId="{2166AE52-ED31-4A68-BEA4-8ED9AE6178A2}" srcOrd="1" destOrd="0" parTransId="{B2C946F1-EC10-4C9C-9879-4287176EF590}" sibTransId="{E8CC2026-9E50-411B-812E-17CA11265F22}"/>
    <dgm:cxn modelId="{6E72C93B-94E8-46C6-AD6B-726EB9821010}" type="presOf" srcId="{2166AE52-ED31-4A68-BEA4-8ED9AE6178A2}" destId="{7862BEEB-95B6-4707-B3EF-7359A2C21EC7}" srcOrd="1" destOrd="0" presId="urn:microsoft.com/office/officeart/2016/7/layout/BasicLinearProcessNumbered"/>
    <dgm:cxn modelId="{06F9685E-D882-4CEE-91AB-8E6DFCE5DD1C}" type="presOf" srcId="{83575B02-FFFE-4144-8901-426E8A4949FC}" destId="{6C9FF4F9-7AB2-4A11-8076-C152BA0E0E7F}" srcOrd="1" destOrd="0" presId="urn:microsoft.com/office/officeart/2016/7/layout/BasicLinearProcessNumbered"/>
    <dgm:cxn modelId="{DB1E0C65-CD79-48C2-A720-C29881855107}" type="presOf" srcId="{2166AE52-ED31-4A68-BEA4-8ED9AE6178A2}" destId="{A10DB67D-D9E5-4932-BB39-FAD3F6AB57A8}" srcOrd="0" destOrd="0" presId="urn:microsoft.com/office/officeart/2016/7/layout/BasicLinearProcessNumbered"/>
    <dgm:cxn modelId="{F6BBD979-F548-4705-9C7E-2CFD09CC1229}" srcId="{42C6D936-951C-4C23-996D-D39E3AF9486B}" destId="{83575B02-FFFE-4144-8901-426E8A4949FC}" srcOrd="0" destOrd="0" parTransId="{71D9EE34-E5D3-4FD9-9A99-918B3F933AEC}" sibTransId="{736C8136-9D03-4857-A7EB-24EE45C6E258}"/>
    <dgm:cxn modelId="{EF6FE794-EA03-4BF1-80D4-CA4CFDBB79AD}" type="presOf" srcId="{C848C5F2-778F-4BF5-B8BE-B950F677AD9D}" destId="{76BFB74F-B9EC-424B-B42B-752338E0B0B3}" srcOrd="0" destOrd="0" presId="urn:microsoft.com/office/officeart/2016/7/layout/BasicLinearProcessNumbered"/>
    <dgm:cxn modelId="{F8D021AC-FC4B-4A0E-9EEB-A6F45D46794E}" srcId="{42C6D936-951C-4C23-996D-D39E3AF9486B}" destId="{C848C5F2-778F-4BF5-B8BE-B950F677AD9D}" srcOrd="2" destOrd="0" parTransId="{B72BCAC6-F171-48A9-AB2F-53DC02BB43B8}" sibTransId="{587D409E-F3EC-4EAE-B2AC-ABA961D28AD4}"/>
    <dgm:cxn modelId="{9C3F50C0-24DA-4F36-B77F-D5B80F06E12E}" type="presOf" srcId="{83575B02-FFFE-4144-8901-426E8A4949FC}" destId="{C0D976E8-A20B-44C1-954C-1B7F44FC970E}" srcOrd="0" destOrd="0" presId="urn:microsoft.com/office/officeart/2016/7/layout/BasicLinearProcessNumbered"/>
    <dgm:cxn modelId="{CC6185C4-33DB-4F08-8B15-CF44B439347C}" type="presOf" srcId="{587D409E-F3EC-4EAE-B2AC-ABA961D28AD4}" destId="{BF101CCA-E91E-44F2-AC23-4375B5E27963}" srcOrd="0" destOrd="0" presId="urn:microsoft.com/office/officeart/2016/7/layout/BasicLinearProcessNumbered"/>
    <dgm:cxn modelId="{C2CEEDEF-3DAF-4131-9350-943B641DD46A}" type="presOf" srcId="{736C8136-9D03-4857-A7EB-24EE45C6E258}" destId="{ADD12493-5057-4C04-8D11-F338AA3925B5}" srcOrd="0" destOrd="0" presId="urn:microsoft.com/office/officeart/2016/7/layout/BasicLinearProcessNumbered"/>
    <dgm:cxn modelId="{840A15F3-AC6B-4A71-AB33-860A74289A38}" type="presOf" srcId="{42C6D936-951C-4C23-996D-D39E3AF9486B}" destId="{A42381AC-224C-4AA3-800B-43DC0DF736B8}" srcOrd="0" destOrd="0" presId="urn:microsoft.com/office/officeart/2016/7/layout/BasicLinearProcessNumbered"/>
    <dgm:cxn modelId="{85D60CF6-81EA-4B5A-A815-3D9101F7601F}" type="presOf" srcId="{E8CC2026-9E50-411B-812E-17CA11265F22}" destId="{AC307E38-50D3-451A-8248-2C7E112DAD50}" srcOrd="0" destOrd="0" presId="urn:microsoft.com/office/officeart/2016/7/layout/BasicLinearProcessNumbered"/>
    <dgm:cxn modelId="{8D95649F-9508-4F86-84DF-9967067209F4}" type="presParOf" srcId="{A42381AC-224C-4AA3-800B-43DC0DF736B8}" destId="{629FAB88-FA7D-4FD6-96B7-A671EE39EF4A}" srcOrd="0" destOrd="0" presId="urn:microsoft.com/office/officeart/2016/7/layout/BasicLinearProcessNumbered"/>
    <dgm:cxn modelId="{FCC0CFE3-EE2F-49DD-9941-3F244A86D9B7}" type="presParOf" srcId="{629FAB88-FA7D-4FD6-96B7-A671EE39EF4A}" destId="{C0D976E8-A20B-44C1-954C-1B7F44FC970E}" srcOrd="0" destOrd="0" presId="urn:microsoft.com/office/officeart/2016/7/layout/BasicLinearProcessNumbered"/>
    <dgm:cxn modelId="{90081A45-992E-4F56-BB1B-8A6FD8D27EEA}" type="presParOf" srcId="{629FAB88-FA7D-4FD6-96B7-A671EE39EF4A}" destId="{ADD12493-5057-4C04-8D11-F338AA3925B5}" srcOrd="1" destOrd="0" presId="urn:microsoft.com/office/officeart/2016/7/layout/BasicLinearProcessNumbered"/>
    <dgm:cxn modelId="{7327FF71-754D-48F9-886D-EBBD94C294A9}" type="presParOf" srcId="{629FAB88-FA7D-4FD6-96B7-A671EE39EF4A}" destId="{ED731279-359A-4BD9-9685-508E78538879}" srcOrd="2" destOrd="0" presId="urn:microsoft.com/office/officeart/2016/7/layout/BasicLinearProcessNumbered"/>
    <dgm:cxn modelId="{6C334DF2-9D82-4D60-801C-35AFDC3AA9E2}" type="presParOf" srcId="{629FAB88-FA7D-4FD6-96B7-A671EE39EF4A}" destId="{6C9FF4F9-7AB2-4A11-8076-C152BA0E0E7F}" srcOrd="3" destOrd="0" presId="urn:microsoft.com/office/officeart/2016/7/layout/BasicLinearProcessNumbered"/>
    <dgm:cxn modelId="{A325237E-275A-4007-9F84-195531878925}" type="presParOf" srcId="{A42381AC-224C-4AA3-800B-43DC0DF736B8}" destId="{9F5E5F39-2848-49A7-811E-85D4FEB6C59A}" srcOrd="1" destOrd="0" presId="urn:microsoft.com/office/officeart/2016/7/layout/BasicLinearProcessNumbered"/>
    <dgm:cxn modelId="{0640381B-81D1-496C-98E7-F3A60C664B22}" type="presParOf" srcId="{A42381AC-224C-4AA3-800B-43DC0DF736B8}" destId="{8864EB74-71C1-4AD8-B67C-631BB9733354}" srcOrd="2" destOrd="0" presId="urn:microsoft.com/office/officeart/2016/7/layout/BasicLinearProcessNumbered"/>
    <dgm:cxn modelId="{4D7DEB05-6FEF-4AEA-B6F1-08ED89F942BB}" type="presParOf" srcId="{8864EB74-71C1-4AD8-B67C-631BB9733354}" destId="{A10DB67D-D9E5-4932-BB39-FAD3F6AB57A8}" srcOrd="0" destOrd="0" presId="urn:microsoft.com/office/officeart/2016/7/layout/BasicLinearProcessNumbered"/>
    <dgm:cxn modelId="{39665405-B498-44E7-97DB-912096A80261}" type="presParOf" srcId="{8864EB74-71C1-4AD8-B67C-631BB9733354}" destId="{AC307E38-50D3-451A-8248-2C7E112DAD50}" srcOrd="1" destOrd="0" presId="urn:microsoft.com/office/officeart/2016/7/layout/BasicLinearProcessNumbered"/>
    <dgm:cxn modelId="{4401CB0E-254D-43CB-A6A1-B579BE64427D}" type="presParOf" srcId="{8864EB74-71C1-4AD8-B67C-631BB9733354}" destId="{2151E2CB-CEC3-4075-A45F-EE616E18B163}" srcOrd="2" destOrd="0" presId="urn:microsoft.com/office/officeart/2016/7/layout/BasicLinearProcessNumbered"/>
    <dgm:cxn modelId="{4E9E889D-4730-4695-8FD4-6BE5165C192D}" type="presParOf" srcId="{8864EB74-71C1-4AD8-B67C-631BB9733354}" destId="{7862BEEB-95B6-4707-B3EF-7359A2C21EC7}" srcOrd="3" destOrd="0" presId="urn:microsoft.com/office/officeart/2016/7/layout/BasicLinearProcessNumbered"/>
    <dgm:cxn modelId="{E24FE5FC-4709-4216-9BC2-02CFE0625B9D}" type="presParOf" srcId="{A42381AC-224C-4AA3-800B-43DC0DF736B8}" destId="{80B26A53-60AA-4891-B685-1A337B2E42E4}" srcOrd="3" destOrd="0" presId="urn:microsoft.com/office/officeart/2016/7/layout/BasicLinearProcessNumbered"/>
    <dgm:cxn modelId="{09F03333-A458-4DEA-85D1-85AD70B17804}" type="presParOf" srcId="{A42381AC-224C-4AA3-800B-43DC0DF736B8}" destId="{2EE09F0A-3B83-4BEC-BABD-C7B2DDE4B7CC}" srcOrd="4" destOrd="0" presId="urn:microsoft.com/office/officeart/2016/7/layout/BasicLinearProcessNumbered"/>
    <dgm:cxn modelId="{CE06F479-B5C4-481F-B17D-DE8673BFA9E0}" type="presParOf" srcId="{2EE09F0A-3B83-4BEC-BABD-C7B2DDE4B7CC}" destId="{76BFB74F-B9EC-424B-B42B-752338E0B0B3}" srcOrd="0" destOrd="0" presId="urn:microsoft.com/office/officeart/2016/7/layout/BasicLinearProcessNumbered"/>
    <dgm:cxn modelId="{65E678D8-0CCC-4B5F-B994-C9956E203A6E}" type="presParOf" srcId="{2EE09F0A-3B83-4BEC-BABD-C7B2DDE4B7CC}" destId="{BF101CCA-E91E-44F2-AC23-4375B5E27963}" srcOrd="1" destOrd="0" presId="urn:microsoft.com/office/officeart/2016/7/layout/BasicLinearProcessNumbered"/>
    <dgm:cxn modelId="{0BE00684-D0AD-4789-9336-FDB775344C51}" type="presParOf" srcId="{2EE09F0A-3B83-4BEC-BABD-C7B2DDE4B7CC}" destId="{05BAC84B-D935-435A-A1BA-1A66CC8F6BFA}" srcOrd="2" destOrd="0" presId="urn:microsoft.com/office/officeart/2016/7/layout/BasicLinearProcessNumbered"/>
    <dgm:cxn modelId="{7D57135C-85D1-4BE5-8776-8E456E99C177}" type="presParOf" srcId="{2EE09F0A-3B83-4BEC-BABD-C7B2DDE4B7CC}" destId="{CAC495C8-FA16-4C7A-B901-928383CB526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976E8-A20B-44C1-954C-1B7F44FC970E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onsolas"/>
            </a:rPr>
            <a:t>If the damping constant is greater than twice the natural frequency, the pendulum is over damped</a:t>
          </a:r>
        </a:p>
      </dsp:txBody>
      <dsp:txXfrm>
        <a:off x="0" y="1653508"/>
        <a:ext cx="3286125" cy="2610802"/>
      </dsp:txXfrm>
    </dsp:sp>
    <dsp:sp modelId="{ADD12493-5057-4C04-8D11-F338AA3925B5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ED731279-359A-4BD9-9685-508E78538879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DB67D-D9E5-4932-BB39-FAD3F6AB57A8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onsolas"/>
            </a:rPr>
            <a:t>If the damping constant is less than twice the natural frequency, the pendulum is under damped</a:t>
          </a:r>
        </a:p>
      </dsp:txBody>
      <dsp:txXfrm>
        <a:off x="3614737" y="1653508"/>
        <a:ext cx="3286125" cy="2610802"/>
      </dsp:txXfrm>
    </dsp:sp>
    <dsp:sp modelId="{AC307E38-50D3-451A-8248-2C7E112DAD50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2151E2CB-CEC3-4075-A45F-EE616E18B163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FB74F-B9EC-424B-B42B-752338E0B0B3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onsolas"/>
            </a:rPr>
            <a:t>If the damping constant is about the same as twice the natural frequency, the pendulum is critically damped</a:t>
          </a:r>
        </a:p>
      </dsp:txBody>
      <dsp:txXfrm>
        <a:off x="7229475" y="1653508"/>
        <a:ext cx="3286125" cy="2610802"/>
      </dsp:txXfrm>
    </dsp:sp>
    <dsp:sp modelId="{BF101CCA-E91E-44F2-AC23-4375B5E27963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05BAC84B-D935-435A-A1BA-1A66CC8F6BFA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6544" y="1911096"/>
            <a:ext cx="8055864" cy="2076651"/>
          </a:xfrm>
        </p:spPr>
        <p:txBody>
          <a:bodyPr anchor="b">
            <a:normAutofit/>
          </a:bodyPr>
          <a:lstStyle/>
          <a:p>
            <a:r>
              <a:rPr lang="en-US" sz="6600">
                <a:solidFill>
                  <a:srgbClr val="FFFFFF"/>
                </a:solidFill>
              </a:rPr>
              <a:t>Homework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27832" y="4353507"/>
            <a:ext cx="5733288" cy="93268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Henry Belik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A6144-3D42-AC5D-D3B6-526C8BE5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Consolas"/>
              </a:rPr>
              <a:t>Topics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DDED1-34CC-BD08-32F3-390AA8A2A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latin typeface="Consolas"/>
              </a:rPr>
              <a:t>Oscillatory motion</a:t>
            </a:r>
          </a:p>
          <a:p>
            <a:r>
              <a:rPr lang="en-US" sz="2200" dirty="0">
                <a:latin typeface="Consolas"/>
              </a:rPr>
              <a:t>Driven damped pendulum</a:t>
            </a:r>
          </a:p>
          <a:p>
            <a:r>
              <a:rPr lang="en-US" sz="2200" dirty="0">
                <a:latin typeface="Consolas"/>
              </a:rPr>
              <a:t>Damped pendulum</a:t>
            </a:r>
          </a:p>
          <a:p>
            <a:r>
              <a:rPr lang="en-US" sz="2200" dirty="0">
                <a:latin typeface="Consolas"/>
              </a:rPr>
              <a:t>Resonance</a:t>
            </a:r>
          </a:p>
        </p:txBody>
      </p:sp>
      <p:pic>
        <p:nvPicPr>
          <p:cNvPr id="4" name="Picture 3" descr="Pendulum | Pendulum, Kinetic sculpture, Kinetic art">
            <a:extLst>
              <a:ext uri="{FF2B5EF4-FFF2-40B4-BE49-F238E27FC236}">
                <a16:creationId xmlns:a16="http://schemas.microsoft.com/office/drawing/2014/main" id="{0F7F04E6-D3AB-6057-F8B9-45172B85F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39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DC96B-BD13-63B0-80E0-703122B1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Consolas"/>
              </a:rPr>
              <a:t>Problem 3.6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5F924-78E7-4AC0-ADA7-FF82D9710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latin typeface="Consolas"/>
              </a:rPr>
              <a:t>We know that in a pendulum, there are 3 damping regimes, underdamped, critically damped, and over damped</a:t>
            </a:r>
          </a:p>
          <a:p>
            <a:r>
              <a:rPr lang="en-US" sz="2000">
                <a:latin typeface="Consolas"/>
              </a:rPr>
              <a:t>What damping state the pendulum is in depends on the damping coefficient of the system</a:t>
            </a:r>
          </a:p>
          <a:p>
            <a:r>
              <a:rPr lang="en-US" sz="2000">
                <a:latin typeface="Consolas"/>
              </a:rPr>
              <a:t>We know the natural frequency is</a:t>
            </a:r>
          </a:p>
        </p:txBody>
      </p:sp>
      <p:pic>
        <p:nvPicPr>
          <p:cNvPr id="5" name="Picture 4" descr="A blue pendulum on an orange background">
            <a:extLst>
              <a:ext uri="{FF2B5EF4-FFF2-40B4-BE49-F238E27FC236}">
                <a16:creationId xmlns:a16="http://schemas.microsoft.com/office/drawing/2014/main" id="{E6681258-A375-1D26-9DED-738527DB79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04" r="17362" b="8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6" name="Picture 5" descr="A square root of a mathematical problem&#10;&#10;Description automatically generated">
            <a:extLst>
              <a:ext uri="{FF2B5EF4-FFF2-40B4-BE49-F238E27FC236}">
                <a16:creationId xmlns:a16="http://schemas.microsoft.com/office/drawing/2014/main" id="{C2C6A164-9DA5-5B15-6CFB-B2F055F2E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513" y="5759450"/>
            <a:ext cx="6381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8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4E307-7331-C51B-58A0-47D9AACDA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Governing Equations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4E09C7-7403-3695-66C3-C2F58A869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Using the Euler-Cromer method, we can translate the second order differential equation governing damped pendulums into two  iterate-able processes in MATLAB</a:t>
            </a:r>
          </a:p>
        </p:txBody>
      </p:sp>
      <p:pic>
        <p:nvPicPr>
          <p:cNvPr id="4" name="Content Placeholder 3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AFAC12C0-CFF1-AA79-BAD4-7B33859EE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248" y="2664015"/>
            <a:ext cx="5458968" cy="38667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788D12-84F0-21A1-2694-1B52D4887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76238"/>
            <a:ext cx="3835400" cy="1012825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D8659BB8-71D4-7835-68C3-E6F2B69C80C0}"/>
              </a:ext>
            </a:extLst>
          </p:cNvPr>
          <p:cNvSpPr/>
          <p:nvPr/>
        </p:nvSpPr>
        <p:spPr>
          <a:xfrm>
            <a:off x="8128530" y="1685705"/>
            <a:ext cx="533400" cy="6223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92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6E4A9C1-D193-4292-200B-286A6EBEAF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29" r="9085" b="754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D7B37-2F7D-2235-FD42-DAE5E40E9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3 regimes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FD99B34D-7762-09B1-4E21-EFD2FFBC57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7105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6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E6B64-E332-6D42-C97C-A761AC7A3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5400" dirty="0">
                <a:latin typeface="Consolas"/>
              </a:rPr>
              <a:t>3 regimes continued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3DFA33-CD37-FFFA-48B5-0260BC185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>
                <a:latin typeface="Consolas"/>
              </a:rPr>
              <a:t>I experimentally determined that the critically damped value is about 6.2</a:t>
            </a:r>
            <a:endParaRPr lang="en-US">
              <a:latin typeface="Consolas"/>
            </a:endParaRPr>
          </a:p>
          <a:p>
            <a:r>
              <a:rPr lang="en-US" sz="2200" dirty="0">
                <a:latin typeface="Consolas"/>
              </a:rPr>
              <a:t>If q is less than that, it's under damped</a:t>
            </a:r>
          </a:p>
          <a:p>
            <a:r>
              <a:rPr lang="en-US" sz="2200" dirty="0">
                <a:latin typeface="Consolas"/>
              </a:rPr>
              <a:t>If q is greater than that, it's over damped</a:t>
            </a:r>
          </a:p>
        </p:txBody>
      </p:sp>
      <p:pic>
        <p:nvPicPr>
          <p:cNvPr id="4" name="Content Placeholder 3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C2F549E-9CAC-EA9C-F4ED-30593BED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62059"/>
            <a:ext cx="6903720" cy="513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8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05F1-FD9B-94A5-18B5-8F107632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/>
              </a:rPr>
              <a:t>Time Steps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079B9-B0B0-7710-B60D-541ADCEE9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E00FF"/>
                </a:solidFill>
                <a:latin typeface="Consolas"/>
              </a:rPr>
              <a:t>function </a:t>
            </a:r>
            <a:r>
              <a:rPr lang="en-US" sz="2000" dirty="0">
                <a:latin typeface="Consolas"/>
              </a:rPr>
              <a:t>output = </a:t>
            </a:r>
            <a:r>
              <a:rPr lang="en-US" sz="2000" dirty="0" err="1">
                <a:latin typeface="Consolas"/>
              </a:rPr>
              <a:t>time_steps</a:t>
            </a:r>
            <a:r>
              <a:rPr lang="en-US" sz="2000" dirty="0">
                <a:latin typeface="Consolas"/>
              </a:rPr>
              <a:t>(</a:t>
            </a:r>
            <a:r>
              <a:rPr lang="en-US" sz="2000" dirty="0" err="1">
                <a:latin typeface="Consolas"/>
              </a:rPr>
              <a:t>number_of_steps</a:t>
            </a:r>
            <a:r>
              <a:rPr lang="en-US" sz="2000" dirty="0">
                <a:latin typeface="Consolas"/>
              </a:rPr>
              <a:t>, </a:t>
            </a:r>
            <a:r>
              <a:rPr lang="en-US" sz="2000" dirty="0" err="1">
                <a:latin typeface="Consolas"/>
              </a:rPr>
              <a:t>time_step</a:t>
            </a:r>
            <a:r>
              <a:rPr lang="en-US" sz="20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8013"/>
                </a:solidFill>
                <a:latin typeface="Consolas"/>
              </a:rPr>
              <a:t>%initialize time steps</a:t>
            </a:r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t = zeros(1, </a:t>
            </a:r>
            <a:r>
              <a:rPr lang="en-US" sz="2000" err="1">
                <a:latin typeface="Consolas"/>
              </a:rPr>
              <a:t>number_of_steps</a:t>
            </a:r>
            <a:r>
              <a:rPr lang="en-US" sz="2000" dirty="0">
                <a:latin typeface="Consolas"/>
              </a:rPr>
              <a:t> + 1)'; </a:t>
            </a:r>
            <a:r>
              <a:rPr lang="en-US" sz="2000" dirty="0">
                <a:solidFill>
                  <a:srgbClr val="008013"/>
                </a:solidFill>
                <a:latin typeface="Consolas"/>
              </a:rPr>
              <a:t>% time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E00FF"/>
                </a:solidFill>
                <a:latin typeface="Consolas"/>
              </a:rPr>
              <a:t>for </a:t>
            </a:r>
            <a:r>
              <a:rPr lang="en-US" sz="2000" err="1">
                <a:latin typeface="Consolas"/>
              </a:rPr>
              <a:t>i</a:t>
            </a:r>
            <a:r>
              <a:rPr lang="en-US" sz="2000" dirty="0">
                <a:latin typeface="Consolas"/>
              </a:rPr>
              <a:t> = 1:number_of_steps + 1</a:t>
            </a:r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t(</a:t>
            </a:r>
            <a:r>
              <a:rPr lang="en-US" sz="2000" err="1">
                <a:latin typeface="Consolas"/>
              </a:rPr>
              <a:t>i</a:t>
            </a:r>
            <a:r>
              <a:rPr lang="en-US" sz="2000" dirty="0">
                <a:latin typeface="Consolas"/>
              </a:rPr>
              <a:t>, 1) = (</a:t>
            </a:r>
            <a:r>
              <a:rPr lang="en-US" sz="2000" err="1">
                <a:latin typeface="Consolas"/>
              </a:rPr>
              <a:t>i</a:t>
            </a:r>
            <a:r>
              <a:rPr lang="en-US" sz="2000" dirty="0">
                <a:latin typeface="Consolas"/>
              </a:rPr>
              <a:t> + 1) * </a:t>
            </a:r>
            <a:r>
              <a:rPr lang="en-US" sz="2000" err="1">
                <a:latin typeface="Consolas"/>
              </a:rPr>
              <a:t>time_step</a:t>
            </a:r>
            <a:r>
              <a:rPr lang="en-US" sz="20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r>
              <a:rPr lang="en-US" sz="2000" dirty="0">
                <a:latin typeface="Consolas"/>
              </a:rPr>
              <a:t>output = 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endParaRPr lang="en-US" sz="2000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3163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BDB3-435E-F74C-ED62-89DC43F9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-3175"/>
            <a:ext cx="10515600" cy="1325563"/>
          </a:xfrm>
        </p:spPr>
        <p:txBody>
          <a:bodyPr/>
          <a:lstStyle/>
          <a:p>
            <a:r>
              <a:rPr lang="en-US" dirty="0">
                <a:latin typeface="Consolas"/>
              </a:rPr>
              <a:t>Pendulum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4F4ED-680A-5993-CB80-7C41B6861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254125"/>
            <a:ext cx="10515600" cy="56086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E00FF"/>
                </a:solidFill>
                <a:latin typeface="Consolas"/>
              </a:rPr>
              <a:t>function </a:t>
            </a:r>
            <a:r>
              <a:rPr lang="en-US" sz="1400" dirty="0">
                <a:latin typeface="Consolas"/>
              </a:rPr>
              <a:t>output = Pendulum(</a:t>
            </a:r>
            <a:r>
              <a:rPr lang="en-US" sz="1400" err="1">
                <a:latin typeface="Consolas"/>
              </a:rPr>
              <a:t>pendulum_length</a:t>
            </a:r>
            <a:r>
              <a:rPr lang="en-US" sz="1400" dirty="0">
                <a:latin typeface="Consolas"/>
              </a:rPr>
              <a:t>, </a:t>
            </a:r>
            <a:r>
              <a:rPr lang="en-US" sz="1400" err="1">
                <a:latin typeface="Consolas"/>
              </a:rPr>
              <a:t>damping_constant</a:t>
            </a:r>
            <a:r>
              <a:rPr lang="en-US" sz="1400" dirty="0">
                <a:latin typeface="Consolas"/>
              </a:rPr>
              <a:t>, </a:t>
            </a:r>
            <a:r>
              <a:rPr lang="en-US" sz="1400" err="1">
                <a:latin typeface="Consolas"/>
              </a:rPr>
              <a:t>initial_angle</a:t>
            </a:r>
            <a:r>
              <a:rPr lang="en-US" sz="1400" dirty="0">
                <a:latin typeface="Consolas"/>
              </a:rPr>
              <a:t>, </a:t>
            </a:r>
            <a:r>
              <a:rPr lang="en-US" sz="1400" err="1">
                <a:latin typeface="Consolas"/>
              </a:rPr>
              <a:t>initial_anular_velocity</a:t>
            </a:r>
            <a:r>
              <a:rPr lang="en-US" sz="1400" dirty="0">
                <a:latin typeface="Consolas"/>
              </a:rPr>
              <a:t>, N, </a:t>
            </a:r>
            <a:r>
              <a:rPr lang="en-US" sz="1400" err="1">
                <a:latin typeface="Consolas"/>
              </a:rPr>
              <a:t>time_step</a:t>
            </a:r>
            <a:r>
              <a:rPr lang="en-US" sz="14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g = 9.81; </a:t>
            </a:r>
            <a:r>
              <a:rPr lang="en-US" sz="1400" dirty="0">
                <a:solidFill>
                  <a:srgbClr val="008013"/>
                </a:solidFill>
                <a:latin typeface="Consolas"/>
              </a:rPr>
              <a:t>%m/s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8013"/>
                </a:solidFill>
                <a:latin typeface="Consolas"/>
              </a:rPr>
              <a:t>%initialize data matrix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8013"/>
                </a:solidFill>
                <a:latin typeface="Consolas"/>
              </a:rPr>
              <a:t>%column 1 angular position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8013"/>
                </a:solidFill>
                <a:latin typeface="Consolas"/>
              </a:rPr>
              <a:t>%column 2 angular velocity</a:t>
            </a:r>
          </a:p>
          <a:p>
            <a:pPr marL="0" indent="0">
              <a:buNone/>
            </a:pPr>
            <a:r>
              <a:rPr lang="en-US" sz="1400" err="1">
                <a:latin typeface="Consolas"/>
              </a:rPr>
              <a:t>pos_vel_data</a:t>
            </a:r>
            <a:r>
              <a:rPr lang="en-US" sz="1400" dirty="0">
                <a:latin typeface="Consolas"/>
              </a:rPr>
              <a:t> = zeros(N, 2);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8013"/>
                </a:solidFill>
                <a:latin typeface="Consolas"/>
              </a:rPr>
              <a:t>%initialize data</a:t>
            </a:r>
          </a:p>
          <a:p>
            <a:pPr marL="0" indent="0">
              <a:buNone/>
            </a:pPr>
            <a:r>
              <a:rPr lang="en-US" sz="1400" err="1">
                <a:latin typeface="Consolas"/>
              </a:rPr>
              <a:t>pos_vel_data</a:t>
            </a:r>
            <a:r>
              <a:rPr lang="en-US" sz="1400" dirty="0">
                <a:latin typeface="Consolas"/>
              </a:rPr>
              <a:t>(1, 2) = 3.14 / 180 * </a:t>
            </a:r>
            <a:r>
              <a:rPr lang="en-US" sz="1400" err="1">
                <a:latin typeface="Consolas"/>
              </a:rPr>
              <a:t>initial_anular_velocity</a:t>
            </a:r>
            <a:r>
              <a:rPr lang="en-US" sz="14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err="1">
                <a:latin typeface="Consolas"/>
              </a:rPr>
              <a:t>pos_vel_data</a:t>
            </a:r>
            <a:r>
              <a:rPr lang="en-US" sz="1400" dirty="0">
                <a:latin typeface="Consolas"/>
              </a:rPr>
              <a:t>(1,1) = 3.14 / 180 * </a:t>
            </a:r>
            <a:r>
              <a:rPr lang="en-US" sz="1400" err="1">
                <a:latin typeface="Consolas"/>
              </a:rPr>
              <a:t>initial_angle</a:t>
            </a:r>
            <a:r>
              <a:rPr lang="en-US" sz="14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E00FF"/>
                </a:solidFill>
                <a:latin typeface="Consolas"/>
              </a:rPr>
              <a:t>for </a:t>
            </a:r>
            <a:r>
              <a:rPr lang="en-US" sz="1400" err="1">
                <a:latin typeface="Consolas"/>
              </a:rPr>
              <a:t>i</a:t>
            </a:r>
            <a:r>
              <a:rPr lang="en-US" sz="1400" dirty="0">
                <a:latin typeface="Consolas"/>
              </a:rPr>
              <a:t> = 1:N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8013"/>
                </a:solidFill>
                <a:latin typeface="Consolas"/>
              </a:rPr>
              <a:t>%angular velocity</a:t>
            </a:r>
          </a:p>
          <a:p>
            <a:pPr marL="0" indent="0">
              <a:buNone/>
            </a:pPr>
            <a:r>
              <a:rPr lang="en-US" sz="1400" err="1">
                <a:highlight>
                  <a:srgbClr val="FFFF00"/>
                </a:highlight>
                <a:latin typeface="Consolas"/>
              </a:rPr>
              <a:t>pos_vel_data</a:t>
            </a:r>
            <a:r>
              <a:rPr lang="en-US" sz="1400" dirty="0">
                <a:highlight>
                  <a:srgbClr val="FFFF00"/>
                </a:highlight>
                <a:latin typeface="Consolas"/>
              </a:rPr>
              <a:t>(i+1, 2)</a:t>
            </a:r>
            <a:r>
              <a:rPr lang="en-US" sz="1400" dirty="0">
                <a:latin typeface="Consolas"/>
              </a:rPr>
              <a:t> = -</a:t>
            </a:r>
            <a:r>
              <a:rPr lang="en-US" sz="1400" err="1">
                <a:latin typeface="Consolas"/>
              </a:rPr>
              <a:t>damping_constant</a:t>
            </a:r>
            <a:r>
              <a:rPr lang="en-US" sz="1400" dirty="0">
                <a:latin typeface="Consolas"/>
              </a:rPr>
              <a:t> * </a:t>
            </a:r>
            <a:r>
              <a:rPr lang="en-US" sz="1400" err="1">
                <a:latin typeface="Consolas"/>
              </a:rPr>
              <a:t>pos_vel_data</a:t>
            </a:r>
            <a:r>
              <a:rPr lang="en-US" sz="1400" dirty="0">
                <a:latin typeface="Consolas"/>
              </a:rPr>
              <a:t>(i,2) * </a:t>
            </a:r>
            <a:r>
              <a:rPr lang="en-US" sz="1400" err="1">
                <a:latin typeface="Consolas"/>
              </a:rPr>
              <a:t>time_step</a:t>
            </a:r>
            <a:r>
              <a:rPr lang="en-US" sz="1400" dirty="0">
                <a:latin typeface="Consolas"/>
              </a:rPr>
              <a:t> - g/</a:t>
            </a:r>
            <a:r>
              <a:rPr lang="en-US" sz="1400" err="1">
                <a:latin typeface="Consolas"/>
              </a:rPr>
              <a:t>pendulum_length</a:t>
            </a:r>
            <a:r>
              <a:rPr lang="en-US" sz="1400" dirty="0">
                <a:latin typeface="Consolas"/>
              </a:rPr>
              <a:t> * </a:t>
            </a:r>
            <a:r>
              <a:rPr lang="en-US" sz="1400" err="1">
                <a:latin typeface="Consolas"/>
              </a:rPr>
              <a:t>pos_vel_data</a:t>
            </a:r>
            <a:r>
              <a:rPr lang="en-US" sz="1400" dirty="0">
                <a:latin typeface="Consolas"/>
              </a:rPr>
              <a:t>(</a:t>
            </a:r>
            <a:r>
              <a:rPr lang="en-US" sz="1400" err="1">
                <a:latin typeface="Consolas"/>
              </a:rPr>
              <a:t>i</a:t>
            </a:r>
            <a:r>
              <a:rPr lang="en-US" sz="1400" dirty="0">
                <a:latin typeface="Consolas"/>
              </a:rPr>
              <a:t>, 1) * </a:t>
            </a:r>
            <a:r>
              <a:rPr lang="en-US" sz="1400" err="1">
                <a:latin typeface="Consolas"/>
              </a:rPr>
              <a:t>time_step</a:t>
            </a:r>
            <a:r>
              <a:rPr lang="en-US" sz="1400" dirty="0">
                <a:latin typeface="Consolas"/>
              </a:rPr>
              <a:t> + </a:t>
            </a:r>
            <a:r>
              <a:rPr lang="en-US" sz="1400" err="1">
                <a:latin typeface="Consolas"/>
              </a:rPr>
              <a:t>pos_vel_data</a:t>
            </a:r>
            <a:r>
              <a:rPr lang="en-US" sz="1400" dirty="0">
                <a:latin typeface="Consolas"/>
              </a:rPr>
              <a:t>(</a:t>
            </a:r>
            <a:r>
              <a:rPr lang="en-US" sz="1400" err="1">
                <a:latin typeface="Consolas"/>
              </a:rPr>
              <a:t>i</a:t>
            </a:r>
            <a:r>
              <a:rPr lang="en-US" sz="1400" dirty="0">
                <a:latin typeface="Consolas"/>
              </a:rPr>
              <a:t>, 2);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8013"/>
                </a:solidFill>
                <a:latin typeface="Consolas"/>
              </a:rPr>
              <a:t>%angular position</a:t>
            </a:r>
          </a:p>
          <a:p>
            <a:pPr marL="0" indent="0">
              <a:buNone/>
            </a:pPr>
            <a:r>
              <a:rPr lang="en-US" sz="1400" err="1">
                <a:highlight>
                  <a:srgbClr val="FFFF00"/>
                </a:highlight>
                <a:latin typeface="Consolas"/>
              </a:rPr>
              <a:t>pos_vel_data</a:t>
            </a:r>
            <a:r>
              <a:rPr lang="en-US" sz="1400" dirty="0">
                <a:highlight>
                  <a:srgbClr val="FFFF00"/>
                </a:highlight>
                <a:latin typeface="Consolas"/>
              </a:rPr>
              <a:t>(i+1, 1)</a:t>
            </a:r>
            <a:r>
              <a:rPr lang="en-US" sz="1400" dirty="0">
                <a:latin typeface="Consolas"/>
              </a:rPr>
              <a:t> = </a:t>
            </a:r>
            <a:r>
              <a:rPr lang="en-US" sz="1400" err="1">
                <a:latin typeface="Consolas"/>
              </a:rPr>
              <a:t>pos_vel_data</a:t>
            </a:r>
            <a:r>
              <a:rPr lang="en-US" sz="1400" dirty="0">
                <a:latin typeface="Consolas"/>
              </a:rPr>
              <a:t>(i+1,2) * </a:t>
            </a:r>
            <a:r>
              <a:rPr lang="en-US" sz="1400" err="1">
                <a:latin typeface="Consolas"/>
              </a:rPr>
              <a:t>time_step</a:t>
            </a:r>
            <a:r>
              <a:rPr lang="en-US" sz="1400" dirty="0">
                <a:latin typeface="Consolas"/>
              </a:rPr>
              <a:t> + </a:t>
            </a:r>
            <a:r>
              <a:rPr lang="en-US" sz="1400" err="1">
                <a:latin typeface="Consolas"/>
              </a:rPr>
              <a:t>pos_vel_data</a:t>
            </a:r>
            <a:r>
              <a:rPr lang="en-US" sz="1400" dirty="0">
                <a:latin typeface="Consolas"/>
              </a:rPr>
              <a:t>(</a:t>
            </a:r>
            <a:r>
              <a:rPr lang="en-US" sz="1400" err="1">
                <a:latin typeface="Consolas"/>
              </a:rPr>
              <a:t>i</a:t>
            </a:r>
            <a:r>
              <a:rPr lang="en-US" sz="1400" dirty="0">
                <a:latin typeface="Consolas"/>
              </a:rPr>
              <a:t>, 1);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output=</a:t>
            </a:r>
            <a:r>
              <a:rPr lang="en-US" sz="1400" err="1">
                <a:latin typeface="Consolas"/>
              </a:rPr>
              <a:t>pos_vel_data</a:t>
            </a:r>
            <a:r>
              <a:rPr lang="en-US" sz="14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69001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45AB2-759C-686C-48A6-772306B6E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/>
              </a:rPr>
              <a:t>Pendulum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EBB1-6A02-0BF3-758E-39DB8BE650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nsolas"/>
              </a:rPr>
              <a:t>N = 200;</a:t>
            </a:r>
            <a:endParaRPr lang="en-US" sz="1800">
              <a:latin typeface="Consolas"/>
            </a:endParaRPr>
          </a:p>
          <a:p>
            <a:pPr marL="0" indent="0">
              <a:buNone/>
            </a:pPr>
            <a:r>
              <a:rPr lang="en-US" sz="1800" err="1">
                <a:latin typeface="Consolas"/>
              </a:rPr>
              <a:t>time_step</a:t>
            </a:r>
            <a:r>
              <a:rPr lang="en-US" sz="1800" dirty="0">
                <a:latin typeface="Consolas"/>
              </a:rPr>
              <a:t> = 0.05;</a:t>
            </a: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t = </a:t>
            </a:r>
            <a:r>
              <a:rPr lang="en-US" sz="1800" err="1">
                <a:latin typeface="Consolas"/>
              </a:rPr>
              <a:t>time_steps</a:t>
            </a:r>
            <a:r>
              <a:rPr lang="en-US" sz="1800" dirty="0">
                <a:latin typeface="Consolas"/>
              </a:rPr>
              <a:t>(N, </a:t>
            </a:r>
            <a:r>
              <a:rPr lang="en-US" sz="1800" err="1">
                <a:latin typeface="Consolas"/>
              </a:rPr>
              <a:t>time_step</a:t>
            </a:r>
            <a:r>
              <a:rPr lang="en-US" sz="18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800" err="1">
                <a:latin typeface="Consolas"/>
              </a:rPr>
              <a:t>pendulum_length</a:t>
            </a:r>
            <a:r>
              <a:rPr lang="en-US" sz="1800" dirty="0">
                <a:latin typeface="Consolas"/>
              </a:rPr>
              <a:t> = 1;</a:t>
            </a:r>
          </a:p>
          <a:p>
            <a:pPr marL="0" indent="0">
              <a:buNone/>
            </a:pPr>
            <a:r>
              <a:rPr lang="en-US" sz="1800" err="1">
                <a:latin typeface="Consolas"/>
              </a:rPr>
              <a:t>initial_angle</a:t>
            </a:r>
            <a:r>
              <a:rPr lang="en-US" sz="1800" dirty="0">
                <a:latin typeface="Consolas"/>
              </a:rPr>
              <a:t> = 9; </a:t>
            </a:r>
            <a:r>
              <a:rPr lang="en-US" sz="1800" dirty="0">
                <a:solidFill>
                  <a:srgbClr val="008013"/>
                </a:solidFill>
                <a:latin typeface="Consolas"/>
              </a:rPr>
              <a:t>%degrees</a:t>
            </a:r>
          </a:p>
          <a:p>
            <a:pPr marL="0" indent="0">
              <a:buNone/>
            </a:pPr>
            <a:r>
              <a:rPr lang="en-US" sz="1800" err="1">
                <a:latin typeface="Consolas"/>
              </a:rPr>
              <a:t>initial_angular_velocity</a:t>
            </a:r>
            <a:r>
              <a:rPr lang="en-US" sz="1800" dirty="0">
                <a:latin typeface="Consolas"/>
              </a:rPr>
              <a:t> = 0;</a:t>
            </a: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figure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Consolas"/>
              </a:rPr>
              <a:t>w = [2, 4, 6.2, 8, 10]</a:t>
            </a:r>
            <a:r>
              <a:rPr lang="en-US" sz="18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E00FF"/>
                </a:solidFill>
                <a:latin typeface="Consolas"/>
              </a:rPr>
              <a:t>for </a:t>
            </a:r>
            <a:r>
              <a:rPr lang="en-US" sz="1800" err="1">
                <a:latin typeface="Consolas"/>
              </a:rPr>
              <a:t>i</a:t>
            </a:r>
            <a:r>
              <a:rPr lang="en-US" sz="1800" dirty="0">
                <a:latin typeface="Consolas"/>
              </a:rPr>
              <a:t> = w</a:t>
            </a:r>
            <a:endParaRPr lang="en-US" sz="1800">
              <a:latin typeface="Consolas"/>
            </a:endParaRPr>
          </a:p>
          <a:p>
            <a:endParaRPr lang="en-US" dirty="0">
              <a:latin typeface="Consola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E33DE-1A3E-5A0C-6433-4A67D148BD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err="1">
                <a:latin typeface="Consolas"/>
              </a:rPr>
              <a:t>pos_vel_data</a:t>
            </a:r>
            <a:r>
              <a:rPr lang="en-US" sz="1800" dirty="0">
                <a:latin typeface="Consolas"/>
              </a:rPr>
              <a:t> = Pendulum(</a:t>
            </a:r>
            <a:r>
              <a:rPr lang="en-US" sz="1800" err="1">
                <a:latin typeface="Consolas"/>
              </a:rPr>
              <a:t>pendulum_length,i</a:t>
            </a:r>
            <a:r>
              <a:rPr lang="en-US" sz="1800" dirty="0">
                <a:latin typeface="Consolas"/>
              </a:rPr>
              <a:t>, </a:t>
            </a:r>
            <a:r>
              <a:rPr lang="en-US" sz="1800" err="1">
                <a:latin typeface="Consolas"/>
              </a:rPr>
              <a:t>initial_angle</a:t>
            </a:r>
            <a:r>
              <a:rPr lang="en-US" sz="1800" dirty="0">
                <a:latin typeface="Consolas"/>
              </a:rPr>
              <a:t>, </a:t>
            </a:r>
            <a:r>
              <a:rPr lang="en-US" sz="1800" err="1">
                <a:latin typeface="Consolas"/>
              </a:rPr>
              <a:t>initial_angular_velocity</a:t>
            </a:r>
            <a:r>
              <a:rPr lang="en-US" sz="1800" dirty="0">
                <a:latin typeface="Consolas"/>
              </a:rPr>
              <a:t>, N, </a:t>
            </a:r>
            <a:r>
              <a:rPr lang="en-US" sz="1800" err="1">
                <a:latin typeface="Consolas"/>
              </a:rPr>
              <a:t>time_step</a:t>
            </a:r>
            <a:r>
              <a:rPr lang="en-US" sz="18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plot(t, </a:t>
            </a:r>
            <a:r>
              <a:rPr lang="en-US" sz="1800" err="1">
                <a:latin typeface="Consolas"/>
              </a:rPr>
              <a:t>pos_vel_data</a:t>
            </a:r>
            <a:r>
              <a:rPr lang="en-US" sz="1800" dirty="0">
                <a:latin typeface="Consolas"/>
              </a:rPr>
              <a:t>(:,1))</a:t>
            </a: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hold </a:t>
            </a:r>
            <a:r>
              <a:rPr lang="en-US" sz="1800" dirty="0">
                <a:solidFill>
                  <a:srgbClr val="A709F5"/>
                </a:solidFill>
                <a:latin typeface="Consolas"/>
              </a:rPr>
              <a:t>on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title(</a:t>
            </a:r>
            <a:r>
              <a:rPr lang="en-US" sz="1800" dirty="0">
                <a:solidFill>
                  <a:srgbClr val="A709F5"/>
                </a:solidFill>
                <a:latin typeface="Consolas"/>
              </a:rPr>
              <a:t>'Damping Regimes'</a:t>
            </a:r>
            <a:r>
              <a:rPr lang="en-US" sz="18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800" err="1">
                <a:latin typeface="Consolas"/>
              </a:rPr>
              <a:t>xlabel</a:t>
            </a:r>
            <a:r>
              <a:rPr lang="en-US" sz="1800" dirty="0">
                <a:latin typeface="Consolas"/>
              </a:rPr>
              <a:t>(</a:t>
            </a:r>
            <a:r>
              <a:rPr lang="en-US" sz="1800" dirty="0">
                <a:solidFill>
                  <a:srgbClr val="A709F5"/>
                </a:solidFill>
                <a:latin typeface="Consolas"/>
              </a:rPr>
              <a:t>'time (s)'</a:t>
            </a:r>
            <a:r>
              <a:rPr lang="en-US" sz="18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800" err="1">
                <a:latin typeface="Consolas"/>
              </a:rPr>
              <a:t>ylabel</a:t>
            </a:r>
            <a:r>
              <a:rPr lang="en-US" sz="1800" dirty="0">
                <a:latin typeface="Consolas"/>
              </a:rPr>
              <a:t>(</a:t>
            </a:r>
            <a:r>
              <a:rPr lang="en-US" sz="1800" dirty="0">
                <a:solidFill>
                  <a:srgbClr val="A709F5"/>
                </a:solidFill>
                <a:latin typeface="Consolas"/>
              </a:rPr>
              <a:t>'Angular Position(rad)'</a:t>
            </a:r>
            <a:r>
              <a:rPr lang="en-US" sz="18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set(</a:t>
            </a:r>
            <a:r>
              <a:rPr lang="en-US" sz="1800" err="1">
                <a:latin typeface="Consolas"/>
              </a:rPr>
              <a:t>gca</a:t>
            </a:r>
            <a:r>
              <a:rPr lang="en-US" sz="1800" dirty="0">
                <a:latin typeface="Consolas"/>
              </a:rPr>
              <a:t>, </a:t>
            </a:r>
            <a:r>
              <a:rPr lang="en-US" sz="18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800" err="1">
                <a:solidFill>
                  <a:srgbClr val="A709F5"/>
                </a:solidFill>
                <a:latin typeface="Consolas"/>
              </a:rPr>
              <a:t>XAxisLocation</a:t>
            </a:r>
            <a:r>
              <a:rPr lang="en-US" sz="18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800" dirty="0">
                <a:latin typeface="Consolas"/>
              </a:rPr>
              <a:t>, </a:t>
            </a:r>
            <a:r>
              <a:rPr lang="en-US" sz="1800" dirty="0">
                <a:solidFill>
                  <a:srgbClr val="A709F5"/>
                </a:solidFill>
                <a:latin typeface="Consolas"/>
              </a:rPr>
              <a:t>'origin'</a:t>
            </a:r>
            <a:r>
              <a:rPr lang="en-US" sz="18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800" err="1">
                <a:latin typeface="Consolas"/>
              </a:rPr>
              <a:t>legendStrings</a:t>
            </a:r>
            <a:r>
              <a:rPr lang="en-US" sz="1800" dirty="0">
                <a:latin typeface="Consolas"/>
              </a:rPr>
              <a:t> = </a:t>
            </a:r>
            <a:r>
              <a:rPr lang="en-US" sz="1800" dirty="0">
                <a:solidFill>
                  <a:srgbClr val="A709F5"/>
                </a:solidFill>
                <a:latin typeface="Consolas"/>
              </a:rPr>
              <a:t>"q = " </a:t>
            </a:r>
            <a:r>
              <a:rPr lang="en-US" sz="1800" dirty="0">
                <a:latin typeface="Consolas"/>
              </a:rPr>
              <a:t>+ string(w);</a:t>
            </a: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legend(</a:t>
            </a:r>
            <a:r>
              <a:rPr lang="en-US" sz="1800" err="1">
                <a:latin typeface="Consolas"/>
              </a:rPr>
              <a:t>legendStrings</a:t>
            </a:r>
            <a:r>
              <a:rPr lang="en-US" sz="1800" dirty="0">
                <a:latin typeface="Consolas"/>
              </a:rPr>
              <a:t>)</a:t>
            </a:r>
          </a:p>
          <a:p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7704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8D14E-0C13-179F-C966-3D37868DE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-3175"/>
            <a:ext cx="5181600" cy="68659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Consolas"/>
              </a:rPr>
              <a:t>N = 150;</a:t>
            </a:r>
            <a:endParaRPr lang="en-US" sz="1400"/>
          </a:p>
          <a:p>
            <a:pPr marL="0" indent="0">
              <a:buNone/>
            </a:pPr>
            <a:r>
              <a:rPr lang="en-US" sz="1400" err="1">
                <a:latin typeface="Consolas"/>
              </a:rPr>
              <a:t>time_step</a:t>
            </a:r>
            <a:r>
              <a:rPr lang="en-US" sz="1400" dirty="0">
                <a:latin typeface="Consolas"/>
              </a:rPr>
              <a:t> = 0.1;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t = </a:t>
            </a:r>
            <a:r>
              <a:rPr lang="en-US" sz="1400" err="1">
                <a:latin typeface="Consolas"/>
              </a:rPr>
              <a:t>time_steps</a:t>
            </a:r>
            <a:r>
              <a:rPr lang="en-US" sz="1400" dirty="0">
                <a:latin typeface="Consolas"/>
              </a:rPr>
              <a:t>(N, </a:t>
            </a:r>
            <a:r>
              <a:rPr lang="en-US" sz="1400" err="1">
                <a:latin typeface="Consolas"/>
              </a:rPr>
              <a:t>time_step</a:t>
            </a:r>
            <a:r>
              <a:rPr lang="en-US" sz="14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  <a:latin typeface="Consolas"/>
              </a:rPr>
              <a:t>q = 2;</a:t>
            </a:r>
          </a:p>
          <a:p>
            <a:pPr marL="0" indent="0">
              <a:buNone/>
            </a:pPr>
            <a:r>
              <a:rPr lang="en-US" sz="1400" err="1">
                <a:latin typeface="Consolas"/>
              </a:rPr>
              <a:t>pendulum_length</a:t>
            </a:r>
            <a:r>
              <a:rPr lang="en-US" sz="1400" dirty="0">
                <a:latin typeface="Consolas"/>
              </a:rPr>
              <a:t> = 1;</a:t>
            </a:r>
          </a:p>
          <a:p>
            <a:pPr marL="0" indent="0">
              <a:buNone/>
            </a:pPr>
            <a:r>
              <a:rPr lang="en-US" sz="1400" err="1">
                <a:latin typeface="Consolas"/>
              </a:rPr>
              <a:t>initial_angle</a:t>
            </a:r>
            <a:r>
              <a:rPr lang="en-US" sz="1400" dirty="0">
                <a:latin typeface="Consolas"/>
              </a:rPr>
              <a:t> = 9; </a:t>
            </a:r>
            <a:r>
              <a:rPr lang="en-US" sz="1400" dirty="0">
                <a:solidFill>
                  <a:srgbClr val="008013"/>
                </a:solidFill>
                <a:latin typeface="Consolas"/>
              </a:rPr>
              <a:t>%degrees</a:t>
            </a:r>
          </a:p>
          <a:p>
            <a:pPr marL="0" indent="0">
              <a:buNone/>
            </a:pPr>
            <a:r>
              <a:rPr lang="en-US" sz="1400" err="1">
                <a:latin typeface="Consolas"/>
              </a:rPr>
              <a:t>initial_angular_velocity</a:t>
            </a:r>
            <a:r>
              <a:rPr lang="en-US" sz="1400" dirty="0">
                <a:latin typeface="Consolas"/>
              </a:rPr>
              <a:t> = 0;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data = Pendulum(</a:t>
            </a:r>
            <a:r>
              <a:rPr lang="en-US" sz="1400" err="1">
                <a:latin typeface="Consolas"/>
              </a:rPr>
              <a:t>pendulum_length</a:t>
            </a:r>
            <a:r>
              <a:rPr lang="en-US" sz="1400" dirty="0">
                <a:latin typeface="Consolas"/>
              </a:rPr>
              <a:t>, q, </a:t>
            </a:r>
            <a:r>
              <a:rPr lang="en-US" sz="1400" err="1">
                <a:latin typeface="Consolas"/>
              </a:rPr>
              <a:t>initial_angle</a:t>
            </a:r>
            <a:r>
              <a:rPr lang="en-US" sz="1400" dirty="0">
                <a:latin typeface="Consolas"/>
              </a:rPr>
              <a:t>, </a:t>
            </a:r>
            <a:r>
              <a:rPr lang="en-US" sz="1400" err="1">
                <a:latin typeface="Consolas"/>
              </a:rPr>
              <a:t>initial_angular_velocity</a:t>
            </a:r>
            <a:r>
              <a:rPr lang="en-US" sz="1400" dirty="0">
                <a:latin typeface="Consolas"/>
              </a:rPr>
              <a:t>, N, </a:t>
            </a:r>
            <a:r>
              <a:rPr lang="en-US" sz="1400" err="1">
                <a:latin typeface="Consolas"/>
              </a:rPr>
              <a:t>time_step</a:t>
            </a:r>
            <a:r>
              <a:rPr lang="en-US" sz="14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x = zeros(1, N);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y = zeros(1, N);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E00FF"/>
                </a:solidFill>
                <a:latin typeface="Consolas"/>
              </a:rPr>
              <a:t>for </a:t>
            </a:r>
            <a:r>
              <a:rPr lang="en-US" sz="1400" err="1">
                <a:latin typeface="Consolas"/>
              </a:rPr>
              <a:t>i</a:t>
            </a:r>
            <a:r>
              <a:rPr lang="en-US" sz="1400" dirty="0">
                <a:latin typeface="Consolas"/>
              </a:rPr>
              <a:t> = 1:N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x(</a:t>
            </a:r>
            <a:r>
              <a:rPr lang="en-US" sz="1400" err="1">
                <a:latin typeface="Consolas"/>
              </a:rPr>
              <a:t>i</a:t>
            </a:r>
            <a:r>
              <a:rPr lang="en-US" sz="1400" dirty="0">
                <a:latin typeface="Consolas"/>
              </a:rPr>
              <a:t>) = </a:t>
            </a:r>
            <a:r>
              <a:rPr lang="en-US" sz="1400" err="1">
                <a:latin typeface="Consolas"/>
              </a:rPr>
              <a:t>pendulum_length</a:t>
            </a:r>
            <a:r>
              <a:rPr lang="en-US" sz="1400" dirty="0">
                <a:latin typeface="Consolas"/>
              </a:rPr>
              <a:t> * </a:t>
            </a:r>
            <a:r>
              <a:rPr lang="en-US" sz="1400" err="1">
                <a:latin typeface="Consolas"/>
              </a:rPr>
              <a:t>sind</a:t>
            </a:r>
            <a:r>
              <a:rPr lang="en-US" sz="1400" dirty="0">
                <a:latin typeface="Consolas"/>
              </a:rPr>
              <a:t>(data(</a:t>
            </a:r>
            <a:r>
              <a:rPr lang="en-US" sz="1400" err="1">
                <a:latin typeface="Consolas"/>
              </a:rPr>
              <a:t>i</a:t>
            </a:r>
            <a:r>
              <a:rPr lang="en-US" sz="1400" dirty="0">
                <a:latin typeface="Consolas"/>
              </a:rPr>
              <a:t>, 1));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y(</a:t>
            </a:r>
            <a:r>
              <a:rPr lang="en-US" sz="1400" err="1">
                <a:latin typeface="Consolas"/>
              </a:rPr>
              <a:t>i</a:t>
            </a:r>
            <a:r>
              <a:rPr lang="en-US" sz="1400" dirty="0">
                <a:latin typeface="Consolas"/>
              </a:rPr>
              <a:t>) = -</a:t>
            </a:r>
            <a:r>
              <a:rPr lang="en-US" sz="1400" err="1">
                <a:latin typeface="Consolas"/>
              </a:rPr>
              <a:t>pendulum_length</a:t>
            </a:r>
            <a:r>
              <a:rPr lang="en-US" sz="1400" dirty="0">
                <a:latin typeface="Consolas"/>
              </a:rPr>
              <a:t> * </a:t>
            </a:r>
            <a:r>
              <a:rPr lang="en-US" sz="1400" err="1">
                <a:latin typeface="Consolas"/>
              </a:rPr>
              <a:t>cosd</a:t>
            </a:r>
            <a:r>
              <a:rPr lang="en-US" sz="1400" dirty="0">
                <a:latin typeface="Consolas"/>
              </a:rPr>
              <a:t>(data(</a:t>
            </a:r>
            <a:r>
              <a:rPr lang="en-US" sz="1400" err="1">
                <a:latin typeface="Consolas"/>
              </a:rPr>
              <a:t>i</a:t>
            </a:r>
            <a:r>
              <a:rPr lang="en-US" sz="1400" dirty="0">
                <a:latin typeface="Consolas"/>
              </a:rPr>
              <a:t>, 1));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8013"/>
                </a:solidFill>
                <a:latin typeface="Consolas"/>
              </a:rPr>
              <a:t>% Create a movie</a:t>
            </a:r>
          </a:p>
          <a:p>
            <a:pPr marL="0" indent="0">
              <a:buNone/>
            </a:pPr>
            <a:r>
              <a:rPr lang="en-US" sz="1400" dirty="0" err="1">
                <a:latin typeface="Consolas"/>
              </a:rPr>
              <a:t>writerObj</a:t>
            </a:r>
            <a:r>
              <a:rPr lang="en-US" sz="1400" dirty="0">
                <a:latin typeface="Consolas"/>
              </a:rPr>
              <a:t> = </a:t>
            </a:r>
            <a:r>
              <a:rPr lang="en-US" sz="1400" dirty="0" err="1">
                <a:latin typeface="Consolas"/>
              </a:rPr>
              <a:t>VideoWriter</a:t>
            </a:r>
            <a:r>
              <a:rPr lang="en-US" sz="1400" dirty="0">
                <a:latin typeface="Consolas"/>
              </a:rPr>
              <a:t>(</a:t>
            </a:r>
            <a:r>
              <a:rPr lang="en-US" sz="1400" dirty="0">
                <a:solidFill>
                  <a:srgbClr val="A709F5"/>
                </a:solidFill>
                <a:highlight>
                  <a:srgbClr val="FFFF00"/>
                </a:highlight>
                <a:latin typeface="Consolas"/>
              </a:rPr>
              <a:t>'underdamped_animation1</a:t>
            </a:r>
            <a:r>
              <a:rPr lang="en-US" sz="1400" dirty="0">
                <a:solidFill>
                  <a:srgbClr val="A709F5"/>
                </a:solidFill>
                <a:latin typeface="Consolas"/>
              </a:rPr>
              <a:t>.mp4'</a:t>
            </a:r>
            <a:r>
              <a:rPr lang="en-US" sz="1400" dirty="0">
                <a:latin typeface="Consolas"/>
              </a:rPr>
              <a:t>, </a:t>
            </a:r>
            <a:r>
              <a:rPr lang="en-US" sz="1400" dirty="0">
                <a:solidFill>
                  <a:srgbClr val="A709F5"/>
                </a:solidFill>
                <a:latin typeface="Consolas"/>
              </a:rPr>
              <a:t>'MPEG-4'</a:t>
            </a:r>
            <a:r>
              <a:rPr lang="en-US" sz="14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400" err="1">
                <a:latin typeface="Consolas"/>
              </a:rPr>
              <a:t>writerObj.FrameRate</a:t>
            </a:r>
            <a:r>
              <a:rPr lang="en-US" sz="1400" dirty="0">
                <a:latin typeface="Consolas"/>
              </a:rPr>
              <a:t> = 5; </a:t>
            </a:r>
            <a:r>
              <a:rPr lang="en-US" sz="1400" dirty="0">
                <a:solidFill>
                  <a:srgbClr val="008013"/>
                </a:solidFill>
                <a:latin typeface="Consolas"/>
              </a:rPr>
              <a:t>% adjust frame rate if needed</a:t>
            </a: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open(</a:t>
            </a:r>
            <a:r>
              <a:rPr lang="en-US" sz="1400" dirty="0" err="1">
                <a:latin typeface="Consolas"/>
              </a:rPr>
              <a:t>writerObj</a:t>
            </a:r>
            <a:r>
              <a:rPr lang="en-US" sz="1400" dirty="0">
                <a:latin typeface="Consolas"/>
              </a:rPr>
              <a:t>);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810FB-E541-BC29-563A-2C7AFF645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-3175"/>
            <a:ext cx="5181600" cy="61801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8013"/>
                </a:solidFill>
                <a:latin typeface="Consolas"/>
              </a:rPr>
              <a:t>% Animation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figure;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0E00FF"/>
                </a:solidFill>
                <a:latin typeface="Consolas"/>
              </a:rPr>
              <a:t>for </a:t>
            </a:r>
            <a:r>
              <a:rPr lang="en-US" sz="1300" dirty="0" err="1">
                <a:latin typeface="Consolas"/>
              </a:rPr>
              <a:t>i</a:t>
            </a:r>
            <a:r>
              <a:rPr lang="en-US" sz="1300" dirty="0">
                <a:latin typeface="Consolas"/>
              </a:rPr>
              <a:t> = 1:length(x)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plot(0, 0, 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 err="1">
                <a:solidFill>
                  <a:srgbClr val="A709F5"/>
                </a:solidFill>
                <a:latin typeface="Consolas"/>
              </a:rPr>
              <a:t>ro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>
                <a:latin typeface="Consolas"/>
              </a:rPr>
              <a:t>, 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 err="1">
                <a:solidFill>
                  <a:srgbClr val="A709F5"/>
                </a:solidFill>
                <a:latin typeface="Consolas"/>
              </a:rPr>
              <a:t>MarkerSize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>
                <a:latin typeface="Consolas"/>
              </a:rPr>
              <a:t>, 10); </a:t>
            </a:r>
            <a:r>
              <a:rPr lang="en-US" sz="1300" dirty="0">
                <a:solidFill>
                  <a:srgbClr val="008013"/>
                </a:solidFill>
                <a:latin typeface="Consolas"/>
              </a:rPr>
              <a:t>% pivot point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hold 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on</a:t>
            </a:r>
            <a:r>
              <a:rPr lang="en-US" sz="13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plot([0, x(</a:t>
            </a:r>
            <a:r>
              <a:rPr lang="en-US" sz="1300" dirty="0" err="1">
                <a:latin typeface="Consolas"/>
              </a:rPr>
              <a:t>i</a:t>
            </a:r>
            <a:r>
              <a:rPr lang="en-US" sz="1300" dirty="0">
                <a:latin typeface="Consolas"/>
              </a:rPr>
              <a:t>)], [0, y(</a:t>
            </a:r>
            <a:r>
              <a:rPr lang="en-US" sz="1300" dirty="0" err="1">
                <a:latin typeface="Consolas"/>
              </a:rPr>
              <a:t>i</a:t>
            </a:r>
            <a:r>
              <a:rPr lang="en-US" sz="1300" dirty="0">
                <a:latin typeface="Consolas"/>
              </a:rPr>
              <a:t>)], 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'b'</a:t>
            </a:r>
            <a:r>
              <a:rPr lang="en-US" sz="1300" dirty="0">
                <a:latin typeface="Consolas"/>
              </a:rPr>
              <a:t>, 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 err="1">
                <a:solidFill>
                  <a:srgbClr val="A709F5"/>
                </a:solidFill>
                <a:latin typeface="Consolas"/>
              </a:rPr>
              <a:t>LineWidth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>
                <a:latin typeface="Consolas"/>
              </a:rPr>
              <a:t>, 2); </a:t>
            </a:r>
            <a:r>
              <a:rPr lang="en-US" sz="1300" dirty="0">
                <a:solidFill>
                  <a:srgbClr val="008013"/>
                </a:solidFill>
                <a:latin typeface="Consolas"/>
              </a:rPr>
              <a:t>% pendulum rod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plot(x(</a:t>
            </a:r>
            <a:r>
              <a:rPr lang="en-US" sz="1300" dirty="0" err="1">
                <a:latin typeface="Consolas"/>
              </a:rPr>
              <a:t>i</a:t>
            </a:r>
            <a:r>
              <a:rPr lang="en-US" sz="1300" dirty="0">
                <a:latin typeface="Consolas"/>
              </a:rPr>
              <a:t>), y(</a:t>
            </a:r>
            <a:r>
              <a:rPr lang="en-US" sz="1300" dirty="0" err="1">
                <a:latin typeface="Consolas"/>
              </a:rPr>
              <a:t>i</a:t>
            </a:r>
            <a:r>
              <a:rPr lang="en-US" sz="1300" dirty="0">
                <a:latin typeface="Consolas"/>
              </a:rPr>
              <a:t>), 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 err="1">
                <a:solidFill>
                  <a:srgbClr val="A709F5"/>
                </a:solidFill>
                <a:latin typeface="Consolas"/>
              </a:rPr>
              <a:t>bo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>
                <a:latin typeface="Consolas"/>
              </a:rPr>
              <a:t>, 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 err="1">
                <a:solidFill>
                  <a:srgbClr val="A709F5"/>
                </a:solidFill>
                <a:latin typeface="Consolas"/>
              </a:rPr>
              <a:t>MarkerSize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</a:t>
            </a:r>
            <a:r>
              <a:rPr lang="en-US" sz="1300" dirty="0">
                <a:latin typeface="Consolas"/>
              </a:rPr>
              <a:t>, 20); </a:t>
            </a:r>
            <a:r>
              <a:rPr lang="en-US" sz="1300" dirty="0">
                <a:solidFill>
                  <a:srgbClr val="008013"/>
                </a:solidFill>
                <a:latin typeface="Consolas"/>
              </a:rPr>
              <a:t>% pendulum bob</a:t>
            </a:r>
          </a:p>
          <a:p>
            <a:pPr marL="0" indent="0">
              <a:buNone/>
            </a:pPr>
            <a:r>
              <a:rPr lang="en-US" sz="1300" dirty="0" err="1">
                <a:latin typeface="Consolas"/>
              </a:rPr>
              <a:t>xlim</a:t>
            </a:r>
            <a:r>
              <a:rPr lang="en-US" sz="1300" dirty="0">
                <a:latin typeface="Consolas"/>
              </a:rPr>
              <a:t>([-1.5*max(abs(x)) 1.5*max(abs(x))]);</a:t>
            </a:r>
          </a:p>
          <a:p>
            <a:pPr marL="0" indent="0">
              <a:buNone/>
            </a:pPr>
            <a:r>
              <a:rPr lang="en-US" sz="1300" dirty="0" err="1">
                <a:latin typeface="Consolas"/>
              </a:rPr>
              <a:t>ylim</a:t>
            </a:r>
            <a:r>
              <a:rPr lang="en-US" sz="1300" dirty="0">
                <a:latin typeface="Consolas"/>
              </a:rPr>
              <a:t>([-1.5*max(abs(y)) 1.5*max(abs(y))]);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title([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'Pendulum Animation at Frame '</a:t>
            </a:r>
            <a:r>
              <a:rPr lang="en-US" sz="1300" dirty="0">
                <a:latin typeface="Consolas"/>
              </a:rPr>
              <a:t>, num2str(</a:t>
            </a:r>
            <a:r>
              <a:rPr lang="en-US" sz="1300" dirty="0" err="1">
                <a:latin typeface="Consolas"/>
              </a:rPr>
              <a:t>i</a:t>
            </a:r>
            <a:r>
              <a:rPr lang="en-US" sz="1300" dirty="0">
                <a:latin typeface="Consolas"/>
              </a:rPr>
              <a:t>)]);</a:t>
            </a:r>
          </a:p>
          <a:p>
            <a:pPr marL="0" indent="0">
              <a:buNone/>
            </a:pPr>
            <a:r>
              <a:rPr lang="en-US" sz="1300" dirty="0" err="1">
                <a:latin typeface="Consolas"/>
              </a:rPr>
              <a:t>xlabel</a:t>
            </a:r>
            <a:r>
              <a:rPr lang="en-US" sz="1300" dirty="0">
                <a:latin typeface="Consolas"/>
              </a:rPr>
              <a:t>(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'X Position (m)'</a:t>
            </a:r>
            <a:r>
              <a:rPr lang="en-US" sz="13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300" dirty="0" err="1">
                <a:latin typeface="Consolas"/>
              </a:rPr>
              <a:t>ylabel</a:t>
            </a:r>
            <a:r>
              <a:rPr lang="en-US" sz="1300" dirty="0">
                <a:latin typeface="Consolas"/>
              </a:rPr>
              <a:t>(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'Y Position (m)'</a:t>
            </a:r>
            <a:r>
              <a:rPr lang="en-US" sz="13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grid 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on</a:t>
            </a:r>
            <a:r>
              <a:rPr lang="en-US" sz="13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hold </a:t>
            </a:r>
            <a:r>
              <a:rPr lang="en-US" sz="1300" dirty="0">
                <a:solidFill>
                  <a:srgbClr val="A709F5"/>
                </a:solidFill>
                <a:latin typeface="Consolas"/>
              </a:rPr>
              <a:t>off</a:t>
            </a:r>
            <a:r>
              <a:rPr lang="en-US" sz="13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300" dirty="0" err="1">
                <a:latin typeface="Consolas"/>
              </a:rPr>
              <a:t>drawnow</a:t>
            </a:r>
            <a:r>
              <a:rPr lang="en-US" sz="13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008013"/>
                </a:solidFill>
                <a:latin typeface="Consolas"/>
              </a:rPr>
              <a:t>% Capture frame for the movie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frame = </a:t>
            </a:r>
            <a:r>
              <a:rPr lang="en-US" sz="1300" dirty="0" err="1">
                <a:latin typeface="Consolas"/>
              </a:rPr>
              <a:t>getframe</a:t>
            </a:r>
            <a:r>
              <a:rPr lang="en-US" sz="1300" dirty="0">
                <a:latin typeface="Consolas"/>
              </a:rPr>
              <a:t>(</a:t>
            </a:r>
            <a:r>
              <a:rPr lang="en-US" sz="1300" dirty="0" err="1">
                <a:latin typeface="Consolas"/>
              </a:rPr>
              <a:t>gcf</a:t>
            </a:r>
            <a:r>
              <a:rPr lang="en-US" sz="13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300" dirty="0" err="1">
                <a:latin typeface="Consolas"/>
              </a:rPr>
              <a:t>writeVideo</a:t>
            </a:r>
            <a:r>
              <a:rPr lang="en-US" sz="1300" dirty="0">
                <a:latin typeface="Consolas"/>
              </a:rPr>
              <a:t>(</a:t>
            </a:r>
            <a:r>
              <a:rPr lang="en-US" sz="1300" dirty="0" err="1">
                <a:latin typeface="Consolas"/>
              </a:rPr>
              <a:t>writerObj</a:t>
            </a:r>
            <a:r>
              <a:rPr lang="en-US" sz="1300" dirty="0">
                <a:latin typeface="Consolas"/>
              </a:rPr>
              <a:t>, frame);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008013"/>
                </a:solidFill>
                <a:latin typeface="Consolas"/>
              </a:rPr>
              <a:t>% Close the movie file</a:t>
            </a:r>
          </a:p>
          <a:p>
            <a:pPr marL="0" indent="0">
              <a:buNone/>
            </a:pPr>
            <a:r>
              <a:rPr lang="en-US" sz="1300" dirty="0">
                <a:latin typeface="Consolas"/>
              </a:rPr>
              <a:t>close(</a:t>
            </a:r>
            <a:r>
              <a:rPr lang="en-US" sz="1300" dirty="0" err="1">
                <a:latin typeface="Consolas"/>
              </a:rPr>
              <a:t>writerObj</a:t>
            </a:r>
            <a:r>
              <a:rPr lang="en-US" sz="1300" dirty="0">
                <a:latin typeface="Consola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01866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97238-48A5-D76E-5905-0EA67CEB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latin typeface="Consolas"/>
              </a:rPr>
              <a:t>Under Damped Pendulum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5EEB-AE82-3A29-1874-10562A9FC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Consolas"/>
              </a:rPr>
              <a:t>q = 2;</a:t>
            </a:r>
            <a:endParaRPr lang="en-US" sz="2200"/>
          </a:p>
          <a:p>
            <a:pPr marL="0" indent="0">
              <a:buNone/>
            </a:pPr>
            <a:r>
              <a:rPr lang="en-US" sz="2200" dirty="0">
                <a:latin typeface="Consolas"/>
              </a:rPr>
              <a:t>Pendulum length = 1</a:t>
            </a:r>
          </a:p>
          <a:p>
            <a:pPr marL="0" indent="0">
              <a:buNone/>
            </a:pPr>
            <a:r>
              <a:rPr lang="en-US" sz="2200" dirty="0">
                <a:latin typeface="Consolas"/>
              </a:rPr>
              <a:t>Initial angle = 9 degrees</a:t>
            </a:r>
          </a:p>
          <a:p>
            <a:pPr marL="0" indent="0">
              <a:buNone/>
            </a:pPr>
            <a:r>
              <a:rPr lang="en-US" sz="2200" dirty="0">
                <a:latin typeface="Consolas"/>
              </a:rPr>
              <a:t>Initial angular velocity = 0;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underdamped_animation1">
            <a:hlinkClick r:id="" action="ppaction://media"/>
            <a:extLst>
              <a:ext uri="{FF2B5EF4-FFF2-40B4-BE49-F238E27FC236}">
                <a16:creationId xmlns:a16="http://schemas.microsoft.com/office/drawing/2014/main" id="{F8CD2CAB-C49C-0508-A284-8265C66964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8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E4689-BCB5-F472-905C-DDA5E9399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latin typeface="Consolas"/>
              </a:rPr>
              <a:t>Critically Damped Pendulum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21C8C-8A47-3692-1708-72298BF12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636" y="2807208"/>
            <a:ext cx="36703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Consolas"/>
              </a:rPr>
              <a:t>q = 6.2;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Consolas"/>
              </a:rPr>
              <a:t>Pendulum length = 1;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Consolas"/>
              </a:rPr>
              <a:t>Initial angle = 9 degrees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Consolas"/>
              </a:rPr>
              <a:t>Initial angular velocity = 0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5" name="critically_damped_animation">
            <a:hlinkClick r:id="" action="ppaction://media"/>
            <a:extLst>
              <a:ext uri="{FF2B5EF4-FFF2-40B4-BE49-F238E27FC236}">
                <a16:creationId xmlns:a16="http://schemas.microsoft.com/office/drawing/2014/main" id="{9C1F0522-4DB2-A668-A318-9FA9504310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1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02902-F327-ED47-591A-DB027074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 dirty="0">
                <a:latin typeface="Consolas"/>
              </a:rPr>
              <a:t>Over Damped Pendulum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FAAF3-C503-87EC-D503-717C46503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636" y="2807208"/>
            <a:ext cx="36703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Consolas"/>
              </a:rPr>
              <a:t>q = 8;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Consolas"/>
              </a:rPr>
              <a:t>Pendulum length = 1;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Consolas"/>
              </a:rPr>
              <a:t>Initial angle = 9 degrees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Consolas"/>
                <a:ea typeface="+mn-lt"/>
                <a:cs typeface="+mn-lt"/>
              </a:rPr>
              <a:t>Initial angular velocity = 0</a:t>
            </a:r>
            <a:endParaRPr lang="en-US" sz="2200" dirty="0">
              <a:latin typeface="Consolas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5" name="overdamped_animation">
            <a:hlinkClick r:id="" action="ppaction://media"/>
            <a:extLst>
              <a:ext uri="{FF2B5EF4-FFF2-40B4-BE49-F238E27FC236}">
                <a16:creationId xmlns:a16="http://schemas.microsoft.com/office/drawing/2014/main" id="{9BAD1553-2BD8-2AEA-8BA0-646E336E5D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0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54C90-F4B4-5221-DE6A-FE64940F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Consolas"/>
              </a:rPr>
              <a:t>Problem 3.7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F6CE5-0BB7-3E39-043C-7BFAC1DB1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latin typeface="Consolas"/>
              </a:rPr>
              <a:t>In this problem we want to explore the effects of an external driving force on a damped pendulum, hence the name driven damped pendulum</a:t>
            </a:r>
          </a:p>
        </p:txBody>
      </p:sp>
      <p:pic>
        <p:nvPicPr>
          <p:cNvPr id="4" name="Picture 3" descr="A schematic of a periodically driven pendulum. | Download Scientific ...">
            <a:extLst>
              <a:ext uri="{FF2B5EF4-FFF2-40B4-BE49-F238E27FC236}">
                <a16:creationId xmlns:a16="http://schemas.microsoft.com/office/drawing/2014/main" id="{64952B95-731A-048E-C326-518D46A4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55846"/>
            <a:ext cx="6903720" cy="474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55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FD0FD-7F59-C136-C7ED-F11B24AA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5400" dirty="0">
                <a:latin typeface="Consolas"/>
              </a:rPr>
              <a:t>Governing Equations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35CBB-CD7A-51D6-351B-7D5176DE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U</a:t>
            </a:r>
            <a:r>
              <a:rPr lang="en-US" sz="2200" dirty="0">
                <a:latin typeface="Consolas"/>
                <a:ea typeface="+mn-lt"/>
                <a:cs typeface="+mn-lt"/>
              </a:rPr>
              <a:t>sing the Euler-Cromer method, we can translate the second order differential equation governing driven damped pendulums into two  iterate-able processes in MATLAB</a:t>
            </a:r>
            <a:endParaRPr lang="en-US" sz="2200">
              <a:latin typeface="Consolas"/>
            </a:endParaRPr>
          </a:p>
        </p:txBody>
      </p:sp>
      <p:pic>
        <p:nvPicPr>
          <p:cNvPr id="4" name="Picture 3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2DE1090D-CB9D-AFF3-3018-AC09C3C3A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947" y="640080"/>
            <a:ext cx="5406418" cy="5577840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E459EFD8-F66D-8944-056E-4269542C4C9B}"/>
              </a:ext>
            </a:extLst>
          </p:cNvPr>
          <p:cNvSpPr/>
          <p:nvPr/>
        </p:nvSpPr>
        <p:spPr>
          <a:xfrm>
            <a:off x="6539638" y="1261878"/>
            <a:ext cx="774700" cy="838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9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805BE-954B-AD62-FFB6-464BC048D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-3175"/>
            <a:ext cx="10515600" cy="68659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E00FF"/>
                </a:solidFill>
                <a:latin typeface="Consolas"/>
              </a:rPr>
              <a:t>function </a:t>
            </a:r>
            <a:r>
              <a:rPr lang="en-US" sz="1600" dirty="0">
                <a:latin typeface="Consolas"/>
              </a:rPr>
              <a:t>output = </a:t>
            </a:r>
            <a:r>
              <a:rPr lang="en-US" sz="1600" err="1">
                <a:latin typeface="Consolas"/>
              </a:rPr>
              <a:t>dd_Pendulum</a:t>
            </a:r>
            <a:r>
              <a:rPr lang="en-US" sz="1600" dirty="0">
                <a:latin typeface="Consolas"/>
              </a:rPr>
              <a:t>(</a:t>
            </a:r>
            <a:r>
              <a:rPr lang="en-US" sz="1600" err="1">
                <a:latin typeface="Consolas"/>
              </a:rPr>
              <a:t>pendulum_length</a:t>
            </a:r>
            <a:r>
              <a:rPr lang="en-US" sz="1600" dirty="0">
                <a:latin typeface="Consolas"/>
              </a:rPr>
              <a:t>, </a:t>
            </a:r>
            <a:r>
              <a:rPr lang="en-US" sz="1600" err="1">
                <a:highlight>
                  <a:srgbClr val="00FF00"/>
                </a:highlight>
                <a:latin typeface="Consolas"/>
              </a:rPr>
              <a:t>damping_constant</a:t>
            </a:r>
            <a:r>
              <a:rPr lang="en-US" sz="1600" dirty="0">
                <a:latin typeface="Consolas"/>
              </a:rPr>
              <a:t>, </a:t>
            </a:r>
            <a:r>
              <a:rPr lang="en-US" sz="1600" dirty="0">
                <a:highlight>
                  <a:srgbClr val="00FF00"/>
                </a:highlight>
                <a:latin typeface="Consolas"/>
              </a:rPr>
              <a:t>omega</a:t>
            </a:r>
            <a:r>
              <a:rPr lang="en-US" sz="1600" dirty="0">
                <a:latin typeface="Consolas"/>
              </a:rPr>
              <a:t>, </a:t>
            </a:r>
            <a:r>
              <a:rPr lang="en-US" sz="1600" err="1">
                <a:latin typeface="Consolas"/>
              </a:rPr>
              <a:t>driving_force</a:t>
            </a:r>
            <a:r>
              <a:rPr lang="en-US" sz="1600" dirty="0">
                <a:latin typeface="Consolas"/>
              </a:rPr>
              <a:t>, </a:t>
            </a:r>
            <a:r>
              <a:rPr lang="en-US" sz="1600" err="1">
                <a:latin typeface="Consolas"/>
              </a:rPr>
              <a:t>initial_angle</a:t>
            </a:r>
            <a:r>
              <a:rPr lang="en-US" sz="1600" dirty="0">
                <a:latin typeface="Consolas"/>
              </a:rPr>
              <a:t>, </a:t>
            </a:r>
            <a:r>
              <a:rPr lang="en-US" sz="1600" err="1">
                <a:latin typeface="Consolas"/>
              </a:rPr>
              <a:t>initial_anular_velocity</a:t>
            </a:r>
            <a:r>
              <a:rPr lang="en-US" sz="1600" dirty="0">
                <a:latin typeface="Consolas"/>
              </a:rPr>
              <a:t>, N, </a:t>
            </a:r>
            <a:r>
              <a:rPr lang="en-US" sz="1600" err="1">
                <a:latin typeface="Consolas"/>
              </a:rPr>
              <a:t>time_step</a:t>
            </a:r>
            <a:r>
              <a:rPr lang="en-US" sz="16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g = 9.81; 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%m/s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%initialize data matrix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%column 1 angular position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%column 2 angular velocity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pos_vel_data</a:t>
            </a:r>
            <a:r>
              <a:rPr lang="en-US" sz="1600" dirty="0">
                <a:latin typeface="Consolas"/>
              </a:rPr>
              <a:t> = zeros(N, 2);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%initialize data</a:t>
            </a:r>
          </a:p>
          <a:p>
            <a:pPr marL="0" indent="0">
              <a:buNone/>
            </a:pPr>
            <a:r>
              <a:rPr lang="en-US" sz="1600" err="1">
                <a:highlight>
                  <a:srgbClr val="FFFF00"/>
                </a:highlight>
                <a:latin typeface="Consolas"/>
              </a:rPr>
              <a:t>pos_vel_data</a:t>
            </a:r>
            <a:r>
              <a:rPr lang="en-US" sz="1600" dirty="0">
                <a:highlight>
                  <a:srgbClr val="FFFF00"/>
                </a:highlight>
                <a:latin typeface="Consolas"/>
              </a:rPr>
              <a:t>(1, 2) = 3.14 / 180 * </a:t>
            </a:r>
            <a:r>
              <a:rPr lang="en-US" sz="1600" err="1">
                <a:highlight>
                  <a:srgbClr val="FFFF00"/>
                </a:highlight>
                <a:latin typeface="Consolas"/>
              </a:rPr>
              <a:t>initial_anular_velocity</a:t>
            </a:r>
            <a:r>
              <a:rPr lang="en-US" sz="1600" dirty="0">
                <a:highlight>
                  <a:srgbClr val="FFFF00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600" err="1">
                <a:highlight>
                  <a:srgbClr val="FFFF00"/>
                </a:highlight>
                <a:latin typeface="Consolas"/>
              </a:rPr>
              <a:t>pos_vel_data</a:t>
            </a:r>
            <a:r>
              <a:rPr lang="en-US" sz="1600" dirty="0">
                <a:highlight>
                  <a:srgbClr val="FFFF00"/>
                </a:highlight>
                <a:latin typeface="Consolas"/>
              </a:rPr>
              <a:t>(1,1) = 3.14 / 180 * </a:t>
            </a:r>
            <a:r>
              <a:rPr lang="en-US" sz="1600" err="1">
                <a:highlight>
                  <a:srgbClr val="FFFF00"/>
                </a:highlight>
                <a:latin typeface="Consolas"/>
              </a:rPr>
              <a:t>initial_angle</a:t>
            </a:r>
            <a:r>
              <a:rPr lang="en-US" sz="1600" dirty="0">
                <a:highlight>
                  <a:srgbClr val="FFFF00"/>
                </a:highlight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t = </a:t>
            </a:r>
            <a:r>
              <a:rPr lang="en-US" sz="1600" err="1">
                <a:latin typeface="Consolas"/>
              </a:rPr>
              <a:t>time_steps</a:t>
            </a:r>
            <a:r>
              <a:rPr lang="en-US" sz="1600" dirty="0">
                <a:latin typeface="Consolas"/>
              </a:rPr>
              <a:t>(N, </a:t>
            </a:r>
            <a:r>
              <a:rPr lang="en-US" sz="1600" err="1">
                <a:latin typeface="Consolas"/>
              </a:rPr>
              <a:t>time_step</a:t>
            </a:r>
            <a:r>
              <a:rPr lang="en-US" sz="16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E00FF"/>
                </a:solidFill>
                <a:latin typeface="Consolas"/>
              </a:rPr>
              <a:t>for </a:t>
            </a:r>
            <a:r>
              <a:rPr lang="en-US" sz="1600" err="1">
                <a:latin typeface="Consolas"/>
              </a:rPr>
              <a:t>i</a:t>
            </a:r>
            <a:r>
              <a:rPr lang="en-US" sz="1600" dirty="0">
                <a:latin typeface="Consolas"/>
              </a:rPr>
              <a:t> = 1:N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%angular velocity</a:t>
            </a:r>
          </a:p>
          <a:p>
            <a:pPr marL="0" indent="0">
              <a:buNone/>
            </a:pPr>
            <a:r>
              <a:rPr lang="en-US" sz="1600" err="1">
                <a:highlight>
                  <a:srgbClr val="FFFF00"/>
                </a:highlight>
                <a:latin typeface="Consolas"/>
              </a:rPr>
              <a:t>pos_vel_data</a:t>
            </a:r>
            <a:r>
              <a:rPr lang="en-US" sz="1600" dirty="0">
                <a:highlight>
                  <a:srgbClr val="FFFF00"/>
                </a:highlight>
                <a:latin typeface="Consolas"/>
              </a:rPr>
              <a:t>(i+1, 2)</a:t>
            </a:r>
            <a:r>
              <a:rPr lang="en-US" sz="1600" dirty="0">
                <a:latin typeface="Consolas"/>
              </a:rPr>
              <a:t> = (</a:t>
            </a:r>
            <a:r>
              <a:rPr lang="en-US" sz="1600" err="1">
                <a:latin typeface="Consolas"/>
              </a:rPr>
              <a:t>driving_force</a:t>
            </a:r>
            <a:r>
              <a:rPr lang="en-US" sz="1600" dirty="0">
                <a:latin typeface="Consolas"/>
              </a:rPr>
              <a:t> * sin(omega * t(</a:t>
            </a:r>
            <a:r>
              <a:rPr lang="en-US" sz="1600" err="1">
                <a:latin typeface="Consolas"/>
              </a:rPr>
              <a:t>i</a:t>
            </a:r>
            <a:r>
              <a:rPr lang="en-US" sz="1600" dirty="0">
                <a:latin typeface="Consolas"/>
              </a:rPr>
              <a:t>)) - </a:t>
            </a:r>
            <a:r>
              <a:rPr lang="en-US" sz="1600" err="1">
                <a:latin typeface="Consolas"/>
              </a:rPr>
              <a:t>damping_constant</a:t>
            </a:r>
            <a:r>
              <a:rPr lang="en-US" sz="1600" dirty="0">
                <a:latin typeface="Consolas"/>
              </a:rPr>
              <a:t> * </a:t>
            </a:r>
            <a:r>
              <a:rPr lang="en-US" sz="1600" err="1">
                <a:latin typeface="Consolas"/>
              </a:rPr>
              <a:t>pos_vel_data</a:t>
            </a:r>
            <a:r>
              <a:rPr lang="en-US" sz="1600" dirty="0">
                <a:latin typeface="Consolas"/>
              </a:rPr>
              <a:t>(i,2) - g/</a:t>
            </a:r>
            <a:r>
              <a:rPr lang="en-US" sz="1600" err="1">
                <a:latin typeface="Consolas"/>
              </a:rPr>
              <a:t>pendulum_length</a:t>
            </a:r>
            <a:r>
              <a:rPr lang="en-US" sz="1600" dirty="0">
                <a:latin typeface="Consolas"/>
              </a:rPr>
              <a:t> * </a:t>
            </a:r>
            <a:r>
              <a:rPr lang="en-US" sz="1600" err="1">
                <a:latin typeface="Consolas"/>
              </a:rPr>
              <a:t>pos_vel_data</a:t>
            </a:r>
            <a:r>
              <a:rPr lang="en-US" sz="1600" dirty="0">
                <a:latin typeface="Consolas"/>
              </a:rPr>
              <a:t>(</a:t>
            </a:r>
            <a:r>
              <a:rPr lang="en-US" sz="1600" err="1">
                <a:latin typeface="Consolas"/>
              </a:rPr>
              <a:t>i</a:t>
            </a:r>
            <a:r>
              <a:rPr lang="en-US" sz="1600" dirty="0">
                <a:latin typeface="Consolas"/>
              </a:rPr>
              <a:t>, 1)) * </a:t>
            </a:r>
            <a:r>
              <a:rPr lang="en-US" sz="1600" err="1">
                <a:latin typeface="Consolas"/>
              </a:rPr>
              <a:t>time_step</a:t>
            </a:r>
            <a:r>
              <a:rPr lang="en-US" sz="1600" dirty="0">
                <a:latin typeface="Consolas"/>
              </a:rPr>
              <a:t> + </a:t>
            </a:r>
            <a:r>
              <a:rPr lang="en-US" sz="1600" err="1">
                <a:latin typeface="Consolas"/>
              </a:rPr>
              <a:t>pos_vel_data</a:t>
            </a:r>
            <a:r>
              <a:rPr lang="en-US" sz="1600" dirty="0">
                <a:latin typeface="Consolas"/>
              </a:rPr>
              <a:t>(</a:t>
            </a:r>
            <a:r>
              <a:rPr lang="en-US" sz="1600" err="1">
                <a:latin typeface="Consolas"/>
              </a:rPr>
              <a:t>i</a:t>
            </a:r>
            <a:r>
              <a:rPr lang="en-US" sz="1600" dirty="0">
                <a:latin typeface="Consolas"/>
              </a:rPr>
              <a:t>, 2);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%angular position</a:t>
            </a:r>
          </a:p>
          <a:p>
            <a:pPr marL="0" indent="0">
              <a:buNone/>
            </a:pPr>
            <a:r>
              <a:rPr lang="en-US" sz="1600" err="1">
                <a:highlight>
                  <a:srgbClr val="FFFF00"/>
                </a:highlight>
                <a:latin typeface="Consolas"/>
              </a:rPr>
              <a:t>pos_vel_data</a:t>
            </a:r>
            <a:r>
              <a:rPr lang="en-US" sz="1600" dirty="0">
                <a:highlight>
                  <a:srgbClr val="FFFF00"/>
                </a:highlight>
                <a:latin typeface="Consolas"/>
              </a:rPr>
              <a:t>(i+1, 1)</a:t>
            </a:r>
            <a:r>
              <a:rPr lang="en-US" sz="1600" dirty="0">
                <a:latin typeface="Consolas"/>
              </a:rPr>
              <a:t> = </a:t>
            </a:r>
            <a:r>
              <a:rPr lang="en-US" sz="1600" err="1">
                <a:latin typeface="Consolas"/>
              </a:rPr>
              <a:t>pos_vel_data</a:t>
            </a:r>
            <a:r>
              <a:rPr lang="en-US" sz="1600" dirty="0">
                <a:latin typeface="Consolas"/>
              </a:rPr>
              <a:t>(i+1,2) * </a:t>
            </a:r>
            <a:r>
              <a:rPr lang="en-US" sz="1600" err="1">
                <a:latin typeface="Consolas"/>
              </a:rPr>
              <a:t>time_step</a:t>
            </a:r>
            <a:r>
              <a:rPr lang="en-US" sz="1600" dirty="0">
                <a:latin typeface="Consolas"/>
              </a:rPr>
              <a:t> + </a:t>
            </a:r>
            <a:r>
              <a:rPr lang="en-US" sz="1600" err="1">
                <a:latin typeface="Consolas"/>
              </a:rPr>
              <a:t>pos_vel_data</a:t>
            </a:r>
            <a:r>
              <a:rPr lang="en-US" sz="1600" dirty="0">
                <a:latin typeface="Consolas"/>
              </a:rPr>
              <a:t>(</a:t>
            </a:r>
            <a:r>
              <a:rPr lang="en-US" sz="1600" err="1">
                <a:latin typeface="Consolas"/>
              </a:rPr>
              <a:t>i</a:t>
            </a:r>
            <a:r>
              <a:rPr lang="en-US" sz="1600" dirty="0">
                <a:latin typeface="Consolas"/>
              </a:rPr>
              <a:t>, 1);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output=</a:t>
            </a:r>
            <a:r>
              <a:rPr lang="en-US" sz="1600" err="1">
                <a:latin typeface="Consolas"/>
              </a:rPr>
              <a:t>pos_vel_data</a:t>
            </a:r>
            <a:r>
              <a:rPr lang="en-US" sz="16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48833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44827-CAF2-1BC6-2793-35FCF93F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 dirty="0"/>
              <a:t>Effects of varying driving angular frequency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FECC7A-E1E4-A8D9-D0BF-3F286D535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Knowing the simulation parameters of pendulum length = 1 and a low damping constant; we can see when the driving frequency matched most closely with the natural frequency, the largest output amplitude was produced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AD5D22-B830-FC73-9A2A-7B214F7D5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39" y="640080"/>
            <a:ext cx="686503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295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CE66-9A0B-7DC2-94A1-3F8E2C97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Varying driving angular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07E13-F37A-565C-2424-1605E1DD12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/>
              </a:rPr>
              <a:t>N = 350;</a:t>
            </a:r>
            <a:endParaRPr lang="en-US" sz="1600"/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time_step</a:t>
            </a:r>
            <a:r>
              <a:rPr lang="en-US" sz="1600" dirty="0">
                <a:latin typeface="Consolas"/>
              </a:rPr>
              <a:t> = 0.05;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t = </a:t>
            </a:r>
            <a:r>
              <a:rPr lang="en-US" sz="1600" err="1">
                <a:latin typeface="Consolas"/>
              </a:rPr>
              <a:t>time_steps</a:t>
            </a:r>
            <a:r>
              <a:rPr lang="en-US" sz="1600" dirty="0">
                <a:latin typeface="Consolas"/>
              </a:rPr>
              <a:t>(N, </a:t>
            </a:r>
            <a:r>
              <a:rPr lang="en-US" sz="1600" err="1">
                <a:latin typeface="Consolas"/>
              </a:rPr>
              <a:t>time_step</a:t>
            </a:r>
            <a:r>
              <a:rPr lang="en-US" sz="16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pendulum_length</a:t>
            </a:r>
            <a:r>
              <a:rPr lang="en-US" sz="1600" dirty="0">
                <a:latin typeface="Consolas"/>
              </a:rPr>
              <a:t> = 1;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initial_angle</a:t>
            </a:r>
            <a:r>
              <a:rPr lang="en-US" sz="1600" dirty="0">
                <a:latin typeface="Consolas"/>
              </a:rPr>
              <a:t> = 9; 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%degrees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initial_angular_velocity</a:t>
            </a:r>
            <a:r>
              <a:rPr lang="en-US" sz="1600" dirty="0">
                <a:latin typeface="Consolas"/>
              </a:rPr>
              <a:t> = 0;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natural_frequency</a:t>
            </a:r>
            <a:r>
              <a:rPr lang="en-US" sz="1600" dirty="0">
                <a:latin typeface="Consolas"/>
              </a:rPr>
              <a:t> = sqrt(9.81 / </a:t>
            </a:r>
            <a:r>
              <a:rPr lang="en-US" sz="1600" err="1">
                <a:latin typeface="Consolas"/>
              </a:rPr>
              <a:t>pendulum_length</a:t>
            </a:r>
            <a:r>
              <a:rPr lang="en-US" sz="16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driving_force</a:t>
            </a:r>
            <a:r>
              <a:rPr lang="en-US" sz="1600" dirty="0">
                <a:latin typeface="Consolas"/>
              </a:rPr>
              <a:t> = 1 * </a:t>
            </a:r>
            <a:r>
              <a:rPr lang="en-US" sz="1600" err="1">
                <a:latin typeface="Consolas"/>
              </a:rPr>
              <a:t>natural_frequency</a:t>
            </a:r>
            <a:r>
              <a:rPr lang="en-US" sz="1600" dirty="0">
                <a:latin typeface="Consolas"/>
              </a:rPr>
              <a:t>; 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%Newtons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q = 0.2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F3717-03DA-CCF1-E9A5-DA6F259CE9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nsolas"/>
              </a:rPr>
              <a:t>figure</a:t>
            </a:r>
            <a:endParaRPr lang="en-US" sz="1600"/>
          </a:p>
          <a:p>
            <a:pPr marL="0" indent="0">
              <a:buNone/>
            </a:pPr>
            <a:r>
              <a:rPr lang="en-US" sz="1600" dirty="0" err="1">
                <a:latin typeface="Consolas"/>
              </a:rPr>
              <a:t>xlabel</a:t>
            </a:r>
            <a:r>
              <a:rPr lang="en-US" sz="1600" dirty="0">
                <a:latin typeface="Consolas"/>
              </a:rPr>
              <a:t>('Time (s)')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ylabel</a:t>
            </a:r>
            <a:r>
              <a:rPr lang="en-US" sz="1600" dirty="0">
                <a:latin typeface="Consolas"/>
              </a:rPr>
              <a:t>('theta (</a:t>
            </a:r>
            <a:r>
              <a:rPr lang="en-US" sz="1600" err="1">
                <a:latin typeface="Consolas"/>
              </a:rPr>
              <a:t>radiens</a:t>
            </a:r>
            <a:r>
              <a:rPr lang="en-US" sz="1600" dirty="0">
                <a:latin typeface="Consolas"/>
              </a:rPr>
              <a:t>)')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  <a:latin typeface="Consolas"/>
              </a:rPr>
              <a:t>values = 1:0.5:5;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for </a:t>
            </a:r>
            <a:r>
              <a:rPr lang="en-US" sz="1600" err="1">
                <a:latin typeface="Consolas"/>
              </a:rPr>
              <a:t>i</a:t>
            </a:r>
            <a:r>
              <a:rPr lang="en-US" sz="1600" dirty="0">
                <a:latin typeface="Consolas"/>
              </a:rPr>
              <a:t>= values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data = </a:t>
            </a:r>
            <a:r>
              <a:rPr lang="en-US" sz="1600" err="1">
                <a:solidFill>
                  <a:srgbClr val="008013"/>
                </a:solidFill>
                <a:latin typeface="Consolas"/>
              </a:rPr>
              <a:t>dd_Pendulum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(</a:t>
            </a:r>
            <a:r>
              <a:rPr lang="en-US" sz="1600" err="1">
                <a:solidFill>
                  <a:srgbClr val="008013"/>
                </a:solidFill>
                <a:latin typeface="Consolas"/>
              </a:rPr>
              <a:t>pendulum_length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, q, </a:t>
            </a:r>
            <a:r>
              <a:rPr lang="en-US" sz="1600" err="1">
                <a:solidFill>
                  <a:srgbClr val="008013"/>
                </a:solidFill>
                <a:highlight>
                  <a:srgbClr val="FFFF00"/>
                </a:highlight>
                <a:latin typeface="Consolas"/>
              </a:rPr>
              <a:t>i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, </a:t>
            </a:r>
            <a:r>
              <a:rPr lang="en-US" sz="1600" err="1">
                <a:solidFill>
                  <a:srgbClr val="008013"/>
                </a:solidFill>
                <a:latin typeface="Consolas"/>
              </a:rPr>
              <a:t>driving_force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, </a:t>
            </a:r>
            <a:r>
              <a:rPr lang="en-US" sz="1600" err="1">
                <a:solidFill>
                  <a:srgbClr val="008013"/>
                </a:solidFill>
                <a:latin typeface="Consolas"/>
              </a:rPr>
              <a:t>initial_angle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, </a:t>
            </a:r>
            <a:r>
              <a:rPr lang="en-US" sz="1600" err="1">
                <a:solidFill>
                  <a:srgbClr val="008013"/>
                </a:solidFill>
                <a:latin typeface="Consolas"/>
              </a:rPr>
              <a:t>initial_angular_velocity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, N, </a:t>
            </a:r>
            <a:r>
              <a:rPr lang="en-US" sz="1600" err="1">
                <a:solidFill>
                  <a:srgbClr val="008013"/>
                </a:solidFill>
                <a:latin typeface="Consolas"/>
              </a:rPr>
              <a:t>time_step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plot(t, data(:, 1))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hold on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r>
              <a:rPr lang="en-US" sz="1600" err="1">
                <a:solidFill>
                  <a:srgbClr val="008013"/>
                </a:solidFill>
                <a:latin typeface="Consolas"/>
              </a:rPr>
              <a:t>legendStrings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 = "drive freq. = " + string(values);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8013"/>
                </a:solidFill>
                <a:latin typeface="Consolas"/>
              </a:rPr>
              <a:t>legend(</a:t>
            </a:r>
            <a:r>
              <a:rPr lang="en-US" sz="1600" err="1">
                <a:solidFill>
                  <a:srgbClr val="008013"/>
                </a:solidFill>
                <a:latin typeface="Consolas"/>
              </a:rPr>
              <a:t>legendStrings</a:t>
            </a:r>
            <a:r>
              <a:rPr lang="en-US" sz="1600" dirty="0">
                <a:solidFill>
                  <a:srgbClr val="008013"/>
                </a:solidFill>
                <a:latin typeface="Consolas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30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302A8-129F-51FA-F4B3-DFFDA866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Effects of varying damping constant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748218-77EA-EE96-A5BF-73780D808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We can see that when the driving angular frequency matches the natural frequency, the smaller damping constant produces larger amplitudes</a:t>
            </a:r>
          </a:p>
        </p:txBody>
      </p:sp>
      <p:pic>
        <p:nvPicPr>
          <p:cNvPr id="4" name="Content Placeholder 3" descr="A graph of a function&#10;&#10;Description automatically generated">
            <a:extLst>
              <a:ext uri="{FF2B5EF4-FFF2-40B4-BE49-F238E27FC236}">
                <a16:creationId xmlns:a16="http://schemas.microsoft.com/office/drawing/2014/main" id="{F3ED1605-2CB1-EB65-701D-3BCBA8900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24184"/>
            <a:ext cx="6903720" cy="54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12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64E3-50E6-F563-A5E7-6BEB331F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Varying damping constant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B0D95-F0D8-5155-B4B1-3353470F9B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latin typeface="Consolas"/>
              </a:rPr>
              <a:t>N = 350;</a:t>
            </a:r>
            <a:endParaRPr lang="en-US" sz="1600"/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time_step</a:t>
            </a:r>
            <a:r>
              <a:rPr lang="en-US" sz="1600">
                <a:latin typeface="Consolas"/>
              </a:rPr>
              <a:t> = 0.05;</a:t>
            </a:r>
          </a:p>
          <a:p>
            <a:pPr marL="0" indent="0">
              <a:buNone/>
            </a:pPr>
            <a:r>
              <a:rPr lang="en-US" sz="1600">
                <a:latin typeface="Consolas"/>
              </a:rPr>
              <a:t>t = </a:t>
            </a:r>
            <a:r>
              <a:rPr lang="en-US" sz="1600" err="1">
                <a:latin typeface="Consolas"/>
              </a:rPr>
              <a:t>time_steps</a:t>
            </a:r>
            <a:r>
              <a:rPr lang="en-US" sz="1600">
                <a:latin typeface="Consolas"/>
              </a:rPr>
              <a:t>(N, </a:t>
            </a:r>
            <a:r>
              <a:rPr lang="en-US" sz="1600" err="1">
                <a:latin typeface="Consolas"/>
              </a:rPr>
              <a:t>time_step</a:t>
            </a:r>
            <a:r>
              <a:rPr lang="en-US" sz="160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pendulum_length</a:t>
            </a:r>
            <a:r>
              <a:rPr lang="en-US" sz="1600">
                <a:latin typeface="Consolas"/>
              </a:rPr>
              <a:t> = 1;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initial_angle</a:t>
            </a:r>
            <a:r>
              <a:rPr lang="en-US" sz="1600">
                <a:latin typeface="Consolas"/>
              </a:rPr>
              <a:t> = 9; </a:t>
            </a:r>
            <a:r>
              <a:rPr lang="en-US" sz="1600">
                <a:solidFill>
                  <a:srgbClr val="008013"/>
                </a:solidFill>
                <a:latin typeface="Consolas"/>
              </a:rPr>
              <a:t>%degrees</a:t>
            </a:r>
          </a:p>
          <a:p>
            <a:pPr marL="0" indent="0">
              <a:buNone/>
            </a:pPr>
            <a:r>
              <a:rPr lang="en-US" sz="1600" err="1">
                <a:latin typeface="Consolas"/>
              </a:rPr>
              <a:t>initial_angular_velocity</a:t>
            </a:r>
            <a:r>
              <a:rPr lang="en-US" sz="1600">
                <a:latin typeface="Consolas"/>
              </a:rPr>
              <a:t> = 0;</a:t>
            </a:r>
          </a:p>
          <a:p>
            <a:pPr marL="0" indent="0">
              <a:buNone/>
            </a:pPr>
            <a:r>
              <a:rPr lang="en-US" sz="1600" dirty="0" err="1">
                <a:latin typeface="Consolas"/>
              </a:rPr>
              <a:t>natural_frequency</a:t>
            </a:r>
            <a:r>
              <a:rPr lang="en-US" sz="1600" dirty="0">
                <a:latin typeface="Consolas"/>
              </a:rPr>
              <a:t> = sqrt(9.81 / </a:t>
            </a:r>
            <a:r>
              <a:rPr lang="en-US" sz="1600" dirty="0" err="1">
                <a:latin typeface="Consolas"/>
              </a:rPr>
              <a:t>pendulum_length</a:t>
            </a:r>
            <a:r>
              <a:rPr lang="en-US" sz="1600" dirty="0">
                <a:latin typeface="Consolas"/>
              </a:rPr>
              <a:t>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F344D-718D-9E56-3691-0236A7DAE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18469"/>
            <a:ext cx="5181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nsolas"/>
              </a:rPr>
              <a:t>figure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>
                <a:latin typeface="Consolas"/>
              </a:rPr>
              <a:t>driving_frequency</a:t>
            </a:r>
            <a:r>
              <a:rPr lang="en-US" sz="1600" dirty="0">
                <a:latin typeface="Consolas"/>
              </a:rPr>
              <a:t> = 3;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  <a:latin typeface="Consolas"/>
              </a:rPr>
              <a:t>q = 1:6</a:t>
            </a:r>
            <a:r>
              <a:rPr lang="en-US" sz="1600" dirty="0"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E00FF"/>
                </a:solidFill>
                <a:latin typeface="Consolas"/>
              </a:rPr>
              <a:t>for </a:t>
            </a:r>
            <a:r>
              <a:rPr lang="en-US" sz="1600" dirty="0" err="1">
                <a:latin typeface="Consolas"/>
              </a:rPr>
              <a:t>i</a:t>
            </a:r>
            <a:r>
              <a:rPr lang="en-US" sz="1600" dirty="0">
                <a:latin typeface="Consolas"/>
              </a:rPr>
              <a:t> = q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data = </a:t>
            </a:r>
            <a:r>
              <a:rPr lang="en-US" sz="1600" err="1">
                <a:latin typeface="Consolas"/>
              </a:rPr>
              <a:t>dd_Pendulum</a:t>
            </a:r>
            <a:r>
              <a:rPr lang="en-US" sz="1600" dirty="0">
                <a:latin typeface="Consolas"/>
              </a:rPr>
              <a:t>(</a:t>
            </a:r>
            <a:r>
              <a:rPr lang="en-US" sz="1600" err="1">
                <a:latin typeface="Consolas"/>
              </a:rPr>
              <a:t>pendulum_length</a:t>
            </a:r>
            <a:r>
              <a:rPr lang="en-US" sz="1600" dirty="0">
                <a:latin typeface="Consolas"/>
              </a:rPr>
              <a:t>, </a:t>
            </a:r>
            <a:r>
              <a:rPr lang="en-US" sz="1600" err="1">
                <a:highlight>
                  <a:srgbClr val="FFFF00"/>
                </a:highlight>
                <a:latin typeface="Consolas"/>
              </a:rPr>
              <a:t>i</a:t>
            </a:r>
            <a:r>
              <a:rPr lang="en-US" sz="1600" dirty="0">
                <a:latin typeface="Consolas"/>
              </a:rPr>
              <a:t>, </a:t>
            </a:r>
            <a:r>
              <a:rPr lang="en-US" sz="1600" err="1">
                <a:latin typeface="Consolas"/>
              </a:rPr>
              <a:t>driving_frequency</a:t>
            </a:r>
            <a:r>
              <a:rPr lang="en-US" sz="1600" dirty="0">
                <a:latin typeface="Consolas"/>
              </a:rPr>
              <a:t>, </a:t>
            </a:r>
            <a:r>
              <a:rPr lang="en-US" sz="1600" err="1">
                <a:latin typeface="Consolas"/>
              </a:rPr>
              <a:t>driving_force</a:t>
            </a:r>
            <a:r>
              <a:rPr lang="en-US" sz="1600" dirty="0">
                <a:latin typeface="Consolas"/>
              </a:rPr>
              <a:t>, </a:t>
            </a:r>
            <a:r>
              <a:rPr lang="en-US" sz="1600" err="1">
                <a:latin typeface="Consolas"/>
              </a:rPr>
              <a:t>initial_angle</a:t>
            </a:r>
            <a:r>
              <a:rPr lang="en-US" sz="1600" dirty="0">
                <a:latin typeface="Consolas"/>
              </a:rPr>
              <a:t>, </a:t>
            </a:r>
            <a:r>
              <a:rPr lang="en-US" sz="1600" err="1">
                <a:latin typeface="Consolas"/>
              </a:rPr>
              <a:t>initial_angular_velocity</a:t>
            </a:r>
            <a:r>
              <a:rPr lang="en-US" sz="1600" dirty="0">
                <a:latin typeface="Consolas"/>
              </a:rPr>
              <a:t>, N, </a:t>
            </a:r>
            <a:r>
              <a:rPr lang="en-US" sz="1600" err="1">
                <a:latin typeface="Consolas"/>
              </a:rPr>
              <a:t>time_step</a:t>
            </a:r>
            <a:r>
              <a:rPr lang="en-US" sz="1600" dirty="0"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plot(t, data(:, 1))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hold </a:t>
            </a:r>
            <a:r>
              <a:rPr lang="en-US" sz="1600" dirty="0">
                <a:solidFill>
                  <a:srgbClr val="A709F5"/>
                </a:solidFill>
                <a:latin typeface="Consolas"/>
              </a:rPr>
              <a:t>on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E00FF"/>
                </a:solidFill>
                <a:latin typeface="Consolas"/>
              </a:rPr>
              <a:t>end</a:t>
            </a:r>
          </a:p>
          <a:p>
            <a:pPr marL="0" indent="0">
              <a:buNone/>
            </a:pPr>
            <a:r>
              <a:rPr lang="en-US" sz="1600" dirty="0" err="1">
                <a:latin typeface="Consolas"/>
              </a:rPr>
              <a:t>xlabel</a:t>
            </a:r>
            <a:r>
              <a:rPr lang="en-US" sz="1600" dirty="0">
                <a:latin typeface="Consolas"/>
              </a:rPr>
              <a:t>(</a:t>
            </a:r>
            <a:r>
              <a:rPr lang="en-US" sz="1600" dirty="0">
                <a:solidFill>
                  <a:srgbClr val="A709F5"/>
                </a:solidFill>
                <a:latin typeface="Consolas"/>
              </a:rPr>
              <a:t>'Time (s)'</a:t>
            </a:r>
            <a:r>
              <a:rPr lang="en-US" sz="16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600" dirty="0" err="1">
                <a:latin typeface="Consolas"/>
              </a:rPr>
              <a:t>ylabel</a:t>
            </a:r>
            <a:r>
              <a:rPr lang="en-US" sz="1600" dirty="0">
                <a:latin typeface="Consolas"/>
              </a:rPr>
              <a:t>(</a:t>
            </a:r>
            <a:r>
              <a:rPr lang="en-US" sz="1600" dirty="0">
                <a:solidFill>
                  <a:srgbClr val="A709F5"/>
                </a:solidFill>
                <a:latin typeface="Consolas"/>
              </a:rPr>
              <a:t>'theta (</a:t>
            </a:r>
            <a:r>
              <a:rPr lang="en-US" sz="1600" dirty="0" err="1">
                <a:solidFill>
                  <a:srgbClr val="A709F5"/>
                </a:solidFill>
                <a:latin typeface="Consolas"/>
              </a:rPr>
              <a:t>radiens</a:t>
            </a:r>
            <a:r>
              <a:rPr lang="en-US" sz="1600" dirty="0">
                <a:solidFill>
                  <a:srgbClr val="A709F5"/>
                </a:solidFill>
                <a:latin typeface="Consolas"/>
              </a:rPr>
              <a:t>)'</a:t>
            </a:r>
            <a:r>
              <a:rPr lang="en-US" sz="16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title(</a:t>
            </a:r>
            <a:r>
              <a:rPr lang="en-US" sz="1600" dirty="0">
                <a:solidFill>
                  <a:srgbClr val="A709F5"/>
                </a:solidFill>
                <a:latin typeface="Consolas"/>
              </a:rPr>
              <a:t>'angular position vs time'</a:t>
            </a:r>
            <a:r>
              <a:rPr lang="en-US" sz="1600" dirty="0"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600" dirty="0" err="1">
                <a:latin typeface="Consolas"/>
              </a:rPr>
              <a:t>legendStrings</a:t>
            </a:r>
            <a:r>
              <a:rPr lang="en-US" sz="1600" dirty="0">
                <a:latin typeface="Consolas"/>
              </a:rPr>
              <a:t> = </a:t>
            </a:r>
            <a:r>
              <a:rPr lang="en-US" sz="1600" dirty="0">
                <a:solidFill>
                  <a:srgbClr val="A709F5"/>
                </a:solidFill>
                <a:latin typeface="Consolas"/>
              </a:rPr>
              <a:t>"q = " </a:t>
            </a:r>
            <a:r>
              <a:rPr lang="en-US" sz="1600" dirty="0">
                <a:latin typeface="Consolas"/>
              </a:rPr>
              <a:t>+ string(q);</a:t>
            </a: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legend(</a:t>
            </a:r>
            <a:r>
              <a:rPr lang="en-US" sz="1600" dirty="0" err="1">
                <a:latin typeface="Consolas"/>
              </a:rPr>
              <a:t>legendStrings</a:t>
            </a:r>
            <a:r>
              <a:rPr lang="en-US" sz="1600" dirty="0">
                <a:latin typeface="Consolas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793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0DE66-6143-BB8D-1763-AF99B5FC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Steady State amplitude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0DED4E-894E-37BA-7211-E50F03B4A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9304" y="1173707"/>
            <a:ext cx="6657089" cy="20659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8A046-157B-8357-60B8-1D84A7D0CD38}"/>
              </a:ext>
            </a:extLst>
          </p:cNvPr>
          <p:cNvSpPr txBox="1"/>
          <p:nvPr/>
        </p:nvSpPr>
        <p:spPr>
          <a:xfrm>
            <a:off x="1289304" y="4612943"/>
            <a:ext cx="7745969" cy="140822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Driving angular frequency variance with a low damping constant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Constant driving angular frequency at the natural frequency with varying damping constants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3598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Homework 4</vt:lpstr>
      <vt:lpstr>Topics</vt:lpstr>
      <vt:lpstr>Problem 3.6</vt:lpstr>
      <vt:lpstr>Governing Equations</vt:lpstr>
      <vt:lpstr>3 regimes</vt:lpstr>
      <vt:lpstr>3 regimes continued</vt:lpstr>
      <vt:lpstr>Time Steps function</vt:lpstr>
      <vt:lpstr>Pendulum Code</vt:lpstr>
      <vt:lpstr>Pendulum Implementation</vt:lpstr>
      <vt:lpstr>PowerPoint Presentation</vt:lpstr>
      <vt:lpstr>Under Damped Pendulum</vt:lpstr>
      <vt:lpstr>Critically Damped Pendulum</vt:lpstr>
      <vt:lpstr>Over Damped Pendulum</vt:lpstr>
      <vt:lpstr>Problem 3.7</vt:lpstr>
      <vt:lpstr>Governing Equations</vt:lpstr>
      <vt:lpstr>PowerPoint Presentation</vt:lpstr>
      <vt:lpstr>Effects of varying driving angular frequency</vt:lpstr>
      <vt:lpstr>Varying driving angular frequency</vt:lpstr>
      <vt:lpstr>Effects of varying damping constant</vt:lpstr>
      <vt:lpstr>Varying damping constant</vt:lpstr>
      <vt:lpstr>Steady State amplitude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385</cp:revision>
  <dcterms:created xsi:type="dcterms:W3CDTF">2024-03-08T02:54:31Z</dcterms:created>
  <dcterms:modified xsi:type="dcterms:W3CDTF">2024-03-08T05:12:36Z</dcterms:modified>
</cp:coreProperties>
</file>